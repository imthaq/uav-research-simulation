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Calibri (MS) Bold" charset="1" panose="020F0702030404030204"/>
      <p:regular r:id="rId27"/>
    </p:embeddedFont>
    <p:embeddedFont>
      <p:font typeface="Cambria Bold" charset="1" panose="02040803050406030204"/>
      <p:regular r:id="rId28"/>
    </p:embeddedFont>
    <p:embeddedFont>
      <p:font typeface="Calibri (MS) Italics" charset="1" panose="020F05020202040A0204"/>
      <p:regular r:id="rId29"/>
    </p:embeddedFont>
    <p:embeddedFont>
      <p:font typeface="Calibri (MS)" charset="1" panose="020F0502020204030204"/>
      <p:regular r:id="rId30"/>
    </p:embeddedFont>
    <p:embeddedFont>
      <p:font typeface="Consolas Bold" charset="1" panose="020B07090202040302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2.xml" Type="http://schemas.openxmlformats.org/officeDocument/2006/relationships/notesSlide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fonts/font35.fntdata" Type="http://schemas.openxmlformats.org/officeDocument/2006/relationships/font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47" Target="notesSlides/notesSlide17.xml" Type="http://schemas.openxmlformats.org/officeDocument/2006/relationships/notesSlide"/><Relationship Id="rId48" Target="notesSlides/notesSlide18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61370" y="3417570"/>
            <a:ext cx="9898380" cy="9898380"/>
            <a:chOff x="0" y="0"/>
            <a:chExt cx="13197840" cy="13197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97839" cy="13197839"/>
            </a:xfrm>
            <a:custGeom>
              <a:avLst/>
              <a:gdLst/>
              <a:ahLst/>
              <a:cxnLst/>
              <a:rect r="r" b="b" t="t" l="l"/>
              <a:pathLst>
                <a:path h="13197839" w="13197839">
                  <a:moveTo>
                    <a:pt x="0" y="6598920"/>
                  </a:moveTo>
                  <a:cubicBezTo>
                    <a:pt x="0" y="2954401"/>
                    <a:pt x="2954401" y="0"/>
                    <a:pt x="6598920" y="0"/>
                  </a:cubicBezTo>
                  <a:cubicBezTo>
                    <a:pt x="10243438" y="0"/>
                    <a:pt x="13197839" y="2954401"/>
                    <a:pt x="13197839" y="6598920"/>
                  </a:cubicBezTo>
                  <a:cubicBezTo>
                    <a:pt x="13197839" y="10243438"/>
                    <a:pt x="10243438" y="13197839"/>
                    <a:pt x="6598920" y="13197839"/>
                  </a:cubicBezTo>
                  <a:cubicBezTo>
                    <a:pt x="2954401" y="13197839"/>
                    <a:pt x="0" y="10243439"/>
                    <a:pt x="0" y="659892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2860" cap="sq">
              <a:solidFill>
                <a:srgbClr val="2A357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195810" y="4652010"/>
            <a:ext cx="7429500" cy="7429500"/>
            <a:chOff x="0" y="0"/>
            <a:chExt cx="9906000" cy="990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06000" cy="9906000"/>
            </a:xfrm>
            <a:custGeom>
              <a:avLst/>
              <a:gdLst/>
              <a:ahLst/>
              <a:cxnLst/>
              <a:rect r="r" b="b" t="t" l="l"/>
              <a:pathLst>
                <a:path h="9906000" w="9906000">
                  <a:moveTo>
                    <a:pt x="0" y="4953000"/>
                  </a:moveTo>
                  <a:cubicBezTo>
                    <a:pt x="0" y="2217547"/>
                    <a:pt x="2217547" y="0"/>
                    <a:pt x="4953000" y="0"/>
                  </a:cubicBezTo>
                  <a:cubicBezTo>
                    <a:pt x="7688453" y="0"/>
                    <a:pt x="9906000" y="2217547"/>
                    <a:pt x="9906000" y="4953000"/>
                  </a:cubicBezTo>
                  <a:cubicBezTo>
                    <a:pt x="9906000" y="7688453"/>
                    <a:pt x="7688453" y="9906000"/>
                    <a:pt x="4953000" y="9906000"/>
                  </a:cubicBezTo>
                  <a:cubicBezTo>
                    <a:pt x="2217547" y="9906000"/>
                    <a:pt x="0" y="7688453"/>
                    <a:pt x="0" y="495300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2860" cap="sq">
              <a:solidFill>
                <a:srgbClr val="34407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430250" y="5886450"/>
            <a:ext cx="4960620" cy="4960620"/>
            <a:chOff x="0" y="0"/>
            <a:chExt cx="6614160" cy="6614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14160" cy="6614160"/>
            </a:xfrm>
            <a:custGeom>
              <a:avLst/>
              <a:gdLst/>
              <a:ahLst/>
              <a:cxnLst/>
              <a:rect r="r" b="b" t="t" l="l"/>
              <a:pathLst>
                <a:path h="6614160" w="6614160">
                  <a:moveTo>
                    <a:pt x="0" y="3307080"/>
                  </a:moveTo>
                  <a:cubicBezTo>
                    <a:pt x="0" y="1480693"/>
                    <a:pt x="1480693" y="0"/>
                    <a:pt x="3307080" y="0"/>
                  </a:cubicBezTo>
                  <a:cubicBezTo>
                    <a:pt x="5133467" y="0"/>
                    <a:pt x="6614160" y="1480693"/>
                    <a:pt x="6614160" y="3307080"/>
                  </a:cubicBezTo>
                  <a:cubicBezTo>
                    <a:pt x="6614160" y="5133467"/>
                    <a:pt x="5133467" y="6614160"/>
                    <a:pt x="3307080" y="6614160"/>
                  </a:cubicBezTo>
                  <a:cubicBezTo>
                    <a:pt x="1480693" y="6614160"/>
                    <a:pt x="0" y="5133467"/>
                    <a:pt x="0" y="330708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2860" cap="sq">
              <a:solidFill>
                <a:srgbClr val="2A357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4664690" y="7120890"/>
            <a:ext cx="2491740" cy="2491740"/>
            <a:chOff x="0" y="0"/>
            <a:chExt cx="3322320" cy="3322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22320" cy="3322320"/>
            </a:xfrm>
            <a:custGeom>
              <a:avLst/>
              <a:gdLst/>
              <a:ahLst/>
              <a:cxnLst/>
              <a:rect r="r" b="b" t="t" l="l"/>
              <a:pathLst>
                <a:path h="3322320" w="3322320">
                  <a:moveTo>
                    <a:pt x="0" y="1661160"/>
                  </a:moveTo>
                  <a:cubicBezTo>
                    <a:pt x="0" y="743712"/>
                    <a:pt x="743712" y="0"/>
                    <a:pt x="1661160" y="0"/>
                  </a:cubicBezTo>
                  <a:cubicBezTo>
                    <a:pt x="2578608" y="0"/>
                    <a:pt x="3322320" y="743712"/>
                    <a:pt x="3322320" y="1661160"/>
                  </a:cubicBezTo>
                  <a:cubicBezTo>
                    <a:pt x="3322320" y="2578608"/>
                    <a:pt x="2578608" y="3322320"/>
                    <a:pt x="1661160" y="3322320"/>
                  </a:cubicBezTo>
                  <a:cubicBezTo>
                    <a:pt x="743712" y="3322320"/>
                    <a:pt x="0" y="2578608"/>
                    <a:pt x="0" y="166116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2860" cap="sq">
              <a:solidFill>
                <a:srgbClr val="34407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963275" y="8357235"/>
            <a:ext cx="9894570" cy="19050"/>
            <a:chOff x="0" y="0"/>
            <a:chExt cx="13192760" cy="25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92761" cy="25400"/>
            </a:xfrm>
            <a:custGeom>
              <a:avLst/>
              <a:gdLst/>
              <a:ahLst/>
              <a:cxnLst/>
              <a:rect r="r" b="b" t="t" l="l"/>
              <a:pathLst>
                <a:path h="25400" w="13192761">
                  <a:moveTo>
                    <a:pt x="0" y="0"/>
                  </a:moveTo>
                  <a:lnTo>
                    <a:pt x="1319276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0070528" r="0" b="-10070528"/>
              </a:stretch>
            </a:blipFill>
            <a:ln w="19050" cap="sq">
              <a:solidFill>
                <a:srgbClr val="2A3577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5901035" y="3419475"/>
            <a:ext cx="19050" cy="9894570"/>
            <a:chOff x="0" y="0"/>
            <a:chExt cx="25400" cy="13192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400" cy="13192761"/>
            </a:xfrm>
            <a:custGeom>
              <a:avLst/>
              <a:gdLst/>
              <a:ahLst/>
              <a:cxnLst/>
              <a:rect r="r" b="b" t="t" l="l"/>
              <a:pathLst>
                <a:path h="13192761" w="25400">
                  <a:moveTo>
                    <a:pt x="0" y="0"/>
                  </a:moveTo>
                  <a:lnTo>
                    <a:pt x="25400" y="1319276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66590874" t="0" r="-66590874" b="0"/>
              </a:stretch>
            </a:blipFill>
            <a:ln w="19050" cap="sq">
              <a:solidFill>
                <a:srgbClr val="2A357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34440" y="2057400"/>
            <a:ext cx="10972800" cy="548640"/>
            <a:chOff x="0" y="0"/>
            <a:chExt cx="146304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450">
                  <a:solidFill>
                    <a:srgbClr val="E8A3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RESEARCH PRESENTATION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4440" y="2743200"/>
            <a:ext cx="14538960" cy="2606040"/>
            <a:chOff x="0" y="0"/>
            <a:chExt cx="19385280" cy="3474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852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06" r="0" b="-5870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19385280" cy="3455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Dependable Radar Sensing &amp; Trust-Aware</a:t>
              </a:r>
            </a:p>
            <a:p>
              <a:pPr algn="l">
                <a:lnSpc>
                  <a:spcPts val="69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Fusion for UAV Swarms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4440" y="5280660"/>
            <a:ext cx="12755880" cy="960120"/>
            <a:chOff x="0" y="0"/>
            <a:chExt cx="17007840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007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872" r="0" b="-20887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700784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Modeling, injecting, and measuring realistic sensing, tracking, and communication faults across 62 scenarios and 1,240 Monte-Carlo trials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4915" y="6642735"/>
            <a:ext cx="7700010" cy="19050"/>
            <a:chOff x="0" y="0"/>
            <a:chExt cx="10266680" cy="25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66680" cy="25400"/>
            </a:xfrm>
            <a:custGeom>
              <a:avLst/>
              <a:gdLst/>
              <a:ahLst/>
              <a:cxnLst/>
              <a:rect r="r" b="b" t="t" l="l"/>
              <a:pathLst>
                <a:path h="25400" w="10266680">
                  <a:moveTo>
                    <a:pt x="0" y="0"/>
                  </a:moveTo>
                  <a:lnTo>
                    <a:pt x="1026668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7825852" r="0" b="-7825852"/>
              </a:stretch>
            </a:blipFill>
            <a:ln w="19050" cap="sq">
              <a:solidFill>
                <a:srgbClr val="3A4694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34440" y="6926580"/>
            <a:ext cx="5486400" cy="411480"/>
            <a:chOff x="0" y="0"/>
            <a:chExt cx="73152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00">
                  <a:solidFill>
                    <a:srgbClr val="8A93C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RESEARCH TEAM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4440" y="7406640"/>
            <a:ext cx="5486400" cy="480060"/>
            <a:chOff x="0" y="0"/>
            <a:chExt cx="7315200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73152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Imtishal Haq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34440" y="7914132"/>
            <a:ext cx="5486400" cy="480060"/>
            <a:chOff x="0" y="0"/>
            <a:chExt cx="7315200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73152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Saad Bin Waqas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406640" y="6926580"/>
            <a:ext cx="4663440" cy="411480"/>
            <a:chOff x="0" y="0"/>
            <a:chExt cx="621792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17920" cy="548640"/>
            </a:xfrm>
            <a:custGeom>
              <a:avLst/>
              <a:gdLst/>
              <a:ahLst/>
              <a:cxnLst/>
              <a:rect r="r" b="b" t="t" l="l"/>
              <a:pathLst>
                <a:path h="5486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62179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00">
                  <a:solidFill>
                    <a:srgbClr val="8A93C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SUPERVISOR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406640" y="7406640"/>
            <a:ext cx="4937760" cy="480060"/>
            <a:chOff x="0" y="0"/>
            <a:chExt cx="6583680" cy="640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65836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Abdullah Sarwar Mirza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795760" y="6926580"/>
            <a:ext cx="4663440" cy="411480"/>
            <a:chOff x="0" y="0"/>
            <a:chExt cx="621792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17920" cy="548640"/>
            </a:xfrm>
            <a:custGeom>
              <a:avLst/>
              <a:gdLst/>
              <a:ahLst/>
              <a:cxnLst/>
              <a:rect r="r" b="b" t="t" l="l"/>
              <a:pathLst>
                <a:path h="5486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62179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00">
                  <a:solidFill>
                    <a:srgbClr val="8A93C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LAB HEAD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795760" y="7406640"/>
            <a:ext cx="4937760" cy="480060"/>
            <a:chOff x="0" y="0"/>
            <a:chExt cx="6583680" cy="640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65836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Dr. Atif Aftab Jilani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34440" y="9395460"/>
            <a:ext cx="8229600" cy="411480"/>
            <a:chOff x="0" y="0"/>
            <a:chExt cx="1097280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E77A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Dependability Research Lab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Real sensors and links fail — swarm logic rarely admits it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74620"/>
            <a:ext cx="8023860" cy="2606040"/>
            <a:chOff x="0" y="0"/>
            <a:chExt cx="10698480" cy="3474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984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3328416"/>
                  </a:lnTo>
                  <a:cubicBezTo>
                    <a:pt x="10698480" y="3409188"/>
                    <a:pt x="10632948" y="3474720"/>
                    <a:pt x="10552176" y="3474720"/>
                  </a:cubicBezTo>
                  <a:lnTo>
                    <a:pt x="146304" y="3474720"/>
                  </a:lnTo>
                  <a:cubicBezTo>
                    <a:pt x="65532" y="3474720"/>
                    <a:pt x="0" y="3409188"/>
                    <a:pt x="0" y="3328416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3113532"/>
            <a:ext cx="192024" cy="192024"/>
            <a:chOff x="0" y="0"/>
            <a:chExt cx="256032" cy="2560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77340" y="2921508"/>
            <a:ext cx="6789420" cy="548640"/>
            <a:chOff x="0" y="0"/>
            <a:chExt cx="905256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52560" cy="731520"/>
            </a:xfrm>
            <a:custGeom>
              <a:avLst/>
              <a:gdLst/>
              <a:ahLst/>
              <a:cxnLst/>
              <a:rect r="r" b="b" t="t" l="l"/>
              <a:pathLst>
                <a:path h="73152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90525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Imperfect perception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440" y="3566160"/>
            <a:ext cx="7200900" cy="1577340"/>
            <a:chOff x="0" y="0"/>
            <a:chExt cx="9601200" cy="2103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012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953" r="0" b="-3895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9601200" cy="2169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Radars miss real targets (low P_D), invent phantom ones (false alarms), and add range/bearing noise — a UAV never sees ground truth, only a corrupted measurement of it.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26880" y="2674620"/>
            <a:ext cx="8023860" cy="2606040"/>
            <a:chOff x="0" y="0"/>
            <a:chExt cx="10698480" cy="3474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984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3328416"/>
                  </a:lnTo>
                  <a:cubicBezTo>
                    <a:pt x="10698480" y="3409188"/>
                    <a:pt x="10632948" y="3474720"/>
                    <a:pt x="10552176" y="3474720"/>
                  </a:cubicBezTo>
                  <a:lnTo>
                    <a:pt x="146304" y="3474720"/>
                  </a:lnTo>
                  <a:cubicBezTo>
                    <a:pt x="65532" y="3474720"/>
                    <a:pt x="0" y="3409188"/>
                    <a:pt x="0" y="3328416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738360" y="3113532"/>
            <a:ext cx="192024" cy="192024"/>
            <a:chOff x="0" y="0"/>
            <a:chExt cx="256032" cy="2560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81260" y="2921508"/>
            <a:ext cx="6789420" cy="548640"/>
            <a:chOff x="0" y="0"/>
            <a:chExt cx="905256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052560" cy="731520"/>
            </a:xfrm>
            <a:custGeom>
              <a:avLst/>
              <a:gdLst/>
              <a:ahLst/>
              <a:cxnLst/>
              <a:rect r="r" b="b" t="t" l="l"/>
              <a:pathLst>
                <a:path h="73152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90525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Unreliable links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738360" y="3566160"/>
            <a:ext cx="7200900" cy="1577340"/>
            <a:chOff x="0" y="0"/>
            <a:chExt cx="9601200" cy="2103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6012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953" r="0" b="-3895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9601200" cy="2169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Packet loss, limited range, latency, and staleness mean cross-UAV fusion cannot assume every peer's track arrives, arrives on time, or arrives uncorrupted.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2960" y="5623560"/>
            <a:ext cx="8023860" cy="2606040"/>
            <a:chOff x="0" y="0"/>
            <a:chExt cx="10698480" cy="34747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984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3328416"/>
                  </a:lnTo>
                  <a:cubicBezTo>
                    <a:pt x="10698480" y="3409188"/>
                    <a:pt x="10632948" y="3474720"/>
                    <a:pt x="10552176" y="3474720"/>
                  </a:cubicBezTo>
                  <a:lnTo>
                    <a:pt x="146304" y="3474720"/>
                  </a:lnTo>
                  <a:cubicBezTo>
                    <a:pt x="65532" y="3474720"/>
                    <a:pt x="0" y="3409188"/>
                    <a:pt x="0" y="3328416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34440" y="6062472"/>
            <a:ext cx="192024" cy="192024"/>
            <a:chOff x="0" y="0"/>
            <a:chExt cx="256032" cy="2560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C4463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577340" y="5870448"/>
            <a:ext cx="6789420" cy="548640"/>
            <a:chOff x="0" y="0"/>
            <a:chExt cx="905256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052560" cy="731520"/>
            </a:xfrm>
            <a:custGeom>
              <a:avLst/>
              <a:gdLst/>
              <a:ahLst/>
              <a:cxnLst/>
              <a:rect r="r" b="b" t="t" l="l"/>
              <a:pathLst>
                <a:path h="73152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90525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Faulty confidence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4440" y="6515100"/>
            <a:ext cx="7200900" cy="1577340"/>
            <a:chOff x="0" y="0"/>
            <a:chExt cx="9601200" cy="21031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6012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953" r="0" b="-3895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9601200" cy="2169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miscalibrated or overconfident sensor can poison naive fusion — the swarm may trust the wrong source precisely when it should trust it least.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26880" y="5623560"/>
            <a:ext cx="8023860" cy="2606040"/>
            <a:chOff x="0" y="0"/>
            <a:chExt cx="10698480" cy="34747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6984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3328416"/>
                  </a:lnTo>
                  <a:cubicBezTo>
                    <a:pt x="10698480" y="3409188"/>
                    <a:pt x="10632948" y="3474720"/>
                    <a:pt x="10552176" y="3474720"/>
                  </a:cubicBezTo>
                  <a:lnTo>
                    <a:pt x="146304" y="3474720"/>
                  </a:lnTo>
                  <a:cubicBezTo>
                    <a:pt x="65532" y="3474720"/>
                    <a:pt x="0" y="3409188"/>
                    <a:pt x="0" y="3328416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738360" y="6062472"/>
            <a:ext cx="192024" cy="192024"/>
            <a:chOff x="0" y="0"/>
            <a:chExt cx="256032" cy="2560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3A4368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081260" y="5870448"/>
            <a:ext cx="6789420" cy="548640"/>
            <a:chOff x="0" y="0"/>
            <a:chExt cx="905256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052560" cy="731520"/>
            </a:xfrm>
            <a:custGeom>
              <a:avLst/>
              <a:gdLst/>
              <a:ahLst/>
              <a:cxnLst/>
              <a:rect r="r" b="b" t="t" l="l"/>
              <a:pathLst>
                <a:path h="73152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90525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Untested failure modes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738360" y="6515100"/>
            <a:ext cx="7200900" cy="1577340"/>
            <a:chOff x="0" y="0"/>
            <a:chExt cx="9601200" cy="21031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6012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953" r="0" b="-3895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9601200" cy="2169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Most swarm-coordination work assumes clean sensing; how safety and mission success degrade — and where they collapse outright — is rarely characterized systematically.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7323308" y="9669780"/>
            <a:ext cx="548640" cy="411480"/>
            <a:chOff x="0" y="0"/>
            <a:chExt cx="73152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Radar-Fusion UAV Swarm Simulation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RESEARCH GAP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the literature leaves open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16596360" cy="754380"/>
            <a:chOff x="0" y="0"/>
            <a:chExt cx="2212848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12848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B628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structured review of ~43 papers across radar/sensor detection, fusion methods, and swarm coordination surfaced a recurring pattern: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3497580"/>
            <a:ext cx="16596360" cy="1124712"/>
            <a:chOff x="0" y="0"/>
            <a:chExt cx="22128480" cy="14996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80" cy="1499616"/>
            </a:xfrm>
            <a:custGeom>
              <a:avLst/>
              <a:gdLst/>
              <a:ahLst/>
              <a:cxnLst/>
              <a:rect r="r" b="b" t="t" l="l"/>
              <a:pathLst>
                <a:path h="1499616" w="22128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2018752" y="0"/>
                  </a:lnTo>
                  <a:cubicBezTo>
                    <a:pt x="22079331" y="0"/>
                    <a:pt x="22128480" y="49149"/>
                    <a:pt x="22128480" y="109728"/>
                  </a:cubicBezTo>
                  <a:lnTo>
                    <a:pt x="22128480" y="1389888"/>
                  </a:lnTo>
                  <a:cubicBezTo>
                    <a:pt x="22128480" y="1450467"/>
                    <a:pt x="22079331" y="1499616"/>
                    <a:pt x="22018752" y="1499616"/>
                  </a:cubicBezTo>
                  <a:lnTo>
                    <a:pt x="109728" y="1499616"/>
                  </a:lnTo>
                  <a:cubicBezTo>
                    <a:pt x="49149" y="1499616"/>
                    <a:pt x="0" y="1450467"/>
                    <a:pt x="0" y="1389888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65860" y="3607308"/>
            <a:ext cx="3429000" cy="905256"/>
            <a:chOff x="0" y="0"/>
            <a:chExt cx="4572000" cy="12070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72000" cy="1207008"/>
            </a:xfrm>
            <a:custGeom>
              <a:avLst/>
              <a:gdLst/>
              <a:ahLst/>
              <a:cxnLst/>
              <a:rect r="r" b="b" t="t" l="l"/>
              <a:pathLst>
                <a:path h="120700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06" r="0" b="-2380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4572000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Fault realism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800600" y="3579876"/>
            <a:ext cx="12344400" cy="960120"/>
            <a:chOff x="0" y="0"/>
            <a:chExt cx="1645920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59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645920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72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Perception faults are usually a single flat noise term — not independently modeled P_D, P_FA/clutter, latency, and dropout with per-channel measurement covariance.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4759452"/>
            <a:ext cx="16596360" cy="1124712"/>
            <a:chOff x="0" y="0"/>
            <a:chExt cx="22128480" cy="14996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499616"/>
            </a:xfrm>
            <a:custGeom>
              <a:avLst/>
              <a:gdLst/>
              <a:ahLst/>
              <a:cxnLst/>
              <a:rect r="r" b="b" t="t" l="l"/>
              <a:pathLst>
                <a:path h="1499616" w="22128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2018752" y="0"/>
                  </a:lnTo>
                  <a:cubicBezTo>
                    <a:pt x="22079331" y="0"/>
                    <a:pt x="22128480" y="49149"/>
                    <a:pt x="22128480" y="109728"/>
                  </a:cubicBezTo>
                  <a:lnTo>
                    <a:pt x="22128480" y="1389888"/>
                  </a:lnTo>
                  <a:cubicBezTo>
                    <a:pt x="22128480" y="1450467"/>
                    <a:pt x="22079331" y="1499616"/>
                    <a:pt x="22018752" y="1499616"/>
                  </a:cubicBezTo>
                  <a:lnTo>
                    <a:pt x="109728" y="1499616"/>
                  </a:lnTo>
                  <a:cubicBezTo>
                    <a:pt x="49149" y="1499616"/>
                    <a:pt x="0" y="1450467"/>
                    <a:pt x="0" y="13898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65860" y="4869180"/>
            <a:ext cx="3429000" cy="905256"/>
            <a:chOff x="0" y="0"/>
            <a:chExt cx="4572000" cy="12070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72000" cy="1207008"/>
            </a:xfrm>
            <a:custGeom>
              <a:avLst/>
              <a:gdLst/>
              <a:ahLst/>
              <a:cxnLst/>
              <a:rect r="r" b="b" t="t" l="l"/>
              <a:pathLst>
                <a:path h="120700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06" r="0" b="-2380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4572000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Fusion breadth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800600" y="4841748"/>
            <a:ext cx="12344400" cy="960120"/>
            <a:chOff x="0" y="0"/>
            <a:chExt cx="16459200" cy="1280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459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645920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72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Papers typically compare one or two fusion schemes; few place naive, confidence-weighted, trust-weighted, covariance-weighted, and covariance-intersection fusion side by side under identical faults.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6021324"/>
            <a:ext cx="16596360" cy="1124712"/>
            <a:chOff x="0" y="0"/>
            <a:chExt cx="22128480" cy="14996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499616"/>
            </a:xfrm>
            <a:custGeom>
              <a:avLst/>
              <a:gdLst/>
              <a:ahLst/>
              <a:cxnLst/>
              <a:rect r="r" b="b" t="t" l="l"/>
              <a:pathLst>
                <a:path h="1499616" w="22128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2018752" y="0"/>
                  </a:lnTo>
                  <a:cubicBezTo>
                    <a:pt x="22079331" y="0"/>
                    <a:pt x="22128480" y="49149"/>
                    <a:pt x="22128480" y="109728"/>
                  </a:cubicBezTo>
                  <a:lnTo>
                    <a:pt x="22128480" y="1389888"/>
                  </a:lnTo>
                  <a:cubicBezTo>
                    <a:pt x="22128480" y="1450467"/>
                    <a:pt x="22079331" y="1499616"/>
                    <a:pt x="22018752" y="1499616"/>
                  </a:cubicBezTo>
                  <a:lnTo>
                    <a:pt x="109728" y="1499616"/>
                  </a:lnTo>
                  <a:cubicBezTo>
                    <a:pt x="49149" y="1499616"/>
                    <a:pt x="0" y="1450467"/>
                    <a:pt x="0" y="1389888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65860" y="6131052"/>
            <a:ext cx="3429000" cy="905256"/>
            <a:chOff x="0" y="0"/>
            <a:chExt cx="4572000" cy="12070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72000" cy="1207008"/>
            </a:xfrm>
            <a:custGeom>
              <a:avLst/>
              <a:gdLst/>
              <a:ahLst/>
              <a:cxnLst/>
              <a:rect r="r" b="b" t="t" l="l"/>
              <a:pathLst>
                <a:path h="120700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06" r="0" b="-2380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4572000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Trust dynamics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800600" y="6103620"/>
            <a:ext cx="12344400" cy="960120"/>
            <a:chOff x="0" y="0"/>
            <a:chExt cx="16459200" cy="12801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459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645920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72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Static, self-reported confidence is common; adaptive trust that revises itself from cross-UAV disagreement over time is rarely benchmarked against it under an actively faulty sensor.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7283196"/>
            <a:ext cx="16596360" cy="1124712"/>
            <a:chOff x="0" y="0"/>
            <a:chExt cx="22128480" cy="14996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128480" cy="1499616"/>
            </a:xfrm>
            <a:custGeom>
              <a:avLst/>
              <a:gdLst/>
              <a:ahLst/>
              <a:cxnLst/>
              <a:rect r="r" b="b" t="t" l="l"/>
              <a:pathLst>
                <a:path h="1499616" w="22128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2018752" y="0"/>
                  </a:lnTo>
                  <a:cubicBezTo>
                    <a:pt x="22079331" y="0"/>
                    <a:pt x="22128480" y="49149"/>
                    <a:pt x="22128480" y="109728"/>
                  </a:cubicBezTo>
                  <a:lnTo>
                    <a:pt x="22128480" y="1389888"/>
                  </a:lnTo>
                  <a:cubicBezTo>
                    <a:pt x="22128480" y="1450467"/>
                    <a:pt x="22079331" y="1499616"/>
                    <a:pt x="22018752" y="1499616"/>
                  </a:cubicBezTo>
                  <a:lnTo>
                    <a:pt x="109728" y="1499616"/>
                  </a:lnTo>
                  <a:cubicBezTo>
                    <a:pt x="49149" y="1499616"/>
                    <a:pt x="0" y="1450467"/>
                    <a:pt x="0" y="13898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65860" y="7392924"/>
            <a:ext cx="3429000" cy="905256"/>
            <a:chOff x="0" y="0"/>
            <a:chExt cx="4572000" cy="120700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572000" cy="1207008"/>
            </a:xfrm>
            <a:custGeom>
              <a:avLst/>
              <a:gdLst/>
              <a:ahLst/>
              <a:cxnLst/>
              <a:rect r="r" b="b" t="t" l="l"/>
              <a:pathLst>
                <a:path h="120700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06" r="0" b="-2380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4572000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Reproducible failure envelopes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800600" y="7365492"/>
            <a:ext cx="12344400" cy="960120"/>
            <a:chOff x="0" y="0"/>
            <a:chExt cx="16459200" cy="1280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459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645920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72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Few frameworks report exactly where a swarm crosses from safe → degraded → mission failure → safety failure as a function of a swept parameter, with seeds and provenance for replication.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22960" y="8545068"/>
            <a:ext cx="16596360" cy="1124712"/>
            <a:chOff x="0" y="0"/>
            <a:chExt cx="22128480" cy="14996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128480" cy="1499616"/>
            </a:xfrm>
            <a:custGeom>
              <a:avLst/>
              <a:gdLst/>
              <a:ahLst/>
              <a:cxnLst/>
              <a:rect r="r" b="b" t="t" l="l"/>
              <a:pathLst>
                <a:path h="1499616" w="22128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2018752" y="0"/>
                  </a:lnTo>
                  <a:cubicBezTo>
                    <a:pt x="22079331" y="0"/>
                    <a:pt x="22128480" y="49149"/>
                    <a:pt x="22128480" y="109728"/>
                  </a:cubicBezTo>
                  <a:lnTo>
                    <a:pt x="22128480" y="1389888"/>
                  </a:lnTo>
                  <a:cubicBezTo>
                    <a:pt x="22128480" y="1450467"/>
                    <a:pt x="22079331" y="1499616"/>
                    <a:pt x="22018752" y="1499616"/>
                  </a:cubicBezTo>
                  <a:lnTo>
                    <a:pt x="109728" y="1499616"/>
                  </a:lnTo>
                  <a:cubicBezTo>
                    <a:pt x="49149" y="1499616"/>
                    <a:pt x="0" y="1450467"/>
                    <a:pt x="0" y="1389888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65860" y="8654796"/>
            <a:ext cx="3429000" cy="905256"/>
            <a:chOff x="0" y="0"/>
            <a:chExt cx="4572000" cy="120700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572000" cy="1207008"/>
            </a:xfrm>
            <a:custGeom>
              <a:avLst/>
              <a:gdLst/>
              <a:ahLst/>
              <a:cxnLst/>
              <a:rect r="r" b="b" t="t" l="l"/>
              <a:pathLst>
                <a:path h="120700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06" r="0" b="-2380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4572000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Ground-truth discipline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800600" y="8627364"/>
            <a:ext cx="12344400" cy="960120"/>
            <a:chOff x="0" y="0"/>
            <a:chExt cx="16459200" cy="12801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6459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645920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72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 is rarely explicit or audited whether the perception/fusion pipeline is inadvertently reading ground truth to make a decision it wouldn't have in the real world.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323308" y="9669780"/>
            <a:ext cx="548640" cy="411480"/>
            <a:chOff x="0" y="0"/>
            <a:chExt cx="73152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Radar-Fusion UAV Swarm Simulation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E8A3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Four questions this simulation answers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74620"/>
            <a:ext cx="754380" cy="1234440"/>
            <a:chOff x="0" y="0"/>
            <a:chExt cx="100584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58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0058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59536" y="0"/>
                  </a:lnTo>
                  <a:cubicBezTo>
                    <a:pt x="940308" y="0"/>
                    <a:pt x="1005840" y="65532"/>
                    <a:pt x="1005840" y="146304"/>
                  </a:cubicBezTo>
                  <a:lnTo>
                    <a:pt x="1005840" y="1499616"/>
                  </a:lnTo>
                  <a:cubicBezTo>
                    <a:pt x="1005840" y="1580388"/>
                    <a:pt x="940308" y="1645920"/>
                    <a:pt x="859536" y="1645920"/>
                  </a:cubicBezTo>
                  <a:lnTo>
                    <a:pt x="146304" y="1645920"/>
                  </a:lnTo>
                  <a:cubicBezTo>
                    <a:pt x="65532" y="1645920"/>
                    <a:pt x="0" y="1580388"/>
                    <a:pt x="0" y="1499616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674620"/>
            <a:ext cx="754380" cy="1234440"/>
            <a:chOff x="0" y="0"/>
            <a:chExt cx="1005840" cy="1645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951" t="0" r="-159951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00584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41B4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51660" y="2633472"/>
            <a:ext cx="15567660" cy="1316736"/>
            <a:chOff x="0" y="0"/>
            <a:chExt cx="20756880" cy="17556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7568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0756880">
                  <a:moveTo>
                    <a:pt x="0" y="0"/>
                  </a:moveTo>
                  <a:lnTo>
                    <a:pt x="20756880" y="0"/>
                  </a:lnTo>
                  <a:lnTo>
                    <a:pt x="2075688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369" r="0" b="-18036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20756880" cy="18318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2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much do detection errors, measurement noise, latency, dropout, and confidence miscalibration each degrade swarm safety and mission metrics relative to a clean baseline?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4251960"/>
            <a:ext cx="754380" cy="1234440"/>
            <a:chOff x="0" y="0"/>
            <a:chExt cx="1005840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58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0058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59536" y="0"/>
                  </a:lnTo>
                  <a:cubicBezTo>
                    <a:pt x="940308" y="0"/>
                    <a:pt x="1005840" y="65532"/>
                    <a:pt x="1005840" y="146304"/>
                  </a:cubicBezTo>
                  <a:lnTo>
                    <a:pt x="1005840" y="1499616"/>
                  </a:lnTo>
                  <a:cubicBezTo>
                    <a:pt x="1005840" y="1580388"/>
                    <a:pt x="940308" y="1645920"/>
                    <a:pt x="859536" y="1645920"/>
                  </a:cubicBezTo>
                  <a:lnTo>
                    <a:pt x="146304" y="1645920"/>
                  </a:lnTo>
                  <a:cubicBezTo>
                    <a:pt x="65532" y="1645920"/>
                    <a:pt x="0" y="1580388"/>
                    <a:pt x="0" y="1499616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4251960"/>
            <a:ext cx="754380" cy="1234440"/>
            <a:chOff x="0" y="0"/>
            <a:chExt cx="1005840" cy="1645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58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951" t="0" r="-159951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00584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41B4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851660" y="4210812"/>
            <a:ext cx="15567660" cy="1316736"/>
            <a:chOff x="0" y="0"/>
            <a:chExt cx="20756880" cy="17556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7568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0756880">
                  <a:moveTo>
                    <a:pt x="0" y="0"/>
                  </a:moveTo>
                  <a:lnTo>
                    <a:pt x="20756880" y="0"/>
                  </a:lnTo>
                  <a:lnTo>
                    <a:pt x="2075688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369" r="0" b="-18036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20756880" cy="18318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2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Does cross-UAV track fusion — naive, confidence-, trust-, covariance-weighted, or covariance-intersection — improve those metrics, and which mode is most robust when a sensor is actively faulty or overconfident?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5829300"/>
            <a:ext cx="754380" cy="1234440"/>
            <a:chOff x="0" y="0"/>
            <a:chExt cx="1005840" cy="16459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58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0058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59536" y="0"/>
                  </a:lnTo>
                  <a:cubicBezTo>
                    <a:pt x="940308" y="0"/>
                    <a:pt x="1005840" y="65532"/>
                    <a:pt x="1005840" y="146304"/>
                  </a:cubicBezTo>
                  <a:lnTo>
                    <a:pt x="1005840" y="1499616"/>
                  </a:lnTo>
                  <a:cubicBezTo>
                    <a:pt x="1005840" y="1580388"/>
                    <a:pt x="940308" y="1645920"/>
                    <a:pt x="859536" y="1645920"/>
                  </a:cubicBezTo>
                  <a:lnTo>
                    <a:pt x="146304" y="1645920"/>
                  </a:lnTo>
                  <a:cubicBezTo>
                    <a:pt x="65532" y="1645920"/>
                    <a:pt x="0" y="1580388"/>
                    <a:pt x="0" y="1499616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5829300"/>
            <a:ext cx="754380" cy="1234440"/>
            <a:chOff x="0" y="0"/>
            <a:chExt cx="1005840" cy="16459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8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951" t="0" r="-15995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00584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41B4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851660" y="5788152"/>
            <a:ext cx="15567660" cy="1316736"/>
            <a:chOff x="0" y="0"/>
            <a:chExt cx="20756880" cy="17556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7568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0756880">
                  <a:moveTo>
                    <a:pt x="0" y="0"/>
                  </a:moveTo>
                  <a:lnTo>
                    <a:pt x="20756880" y="0"/>
                  </a:lnTo>
                  <a:lnTo>
                    <a:pt x="2075688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369" r="0" b="-18036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20756880" cy="18318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2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Does dynamic, cross-step trust adaptation outperform static trust derived only from a sensor's own self-reported confidence?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7406640"/>
            <a:ext cx="754380" cy="1234440"/>
            <a:chOff x="0" y="0"/>
            <a:chExt cx="1005840" cy="16459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58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0058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59536" y="0"/>
                  </a:lnTo>
                  <a:cubicBezTo>
                    <a:pt x="940308" y="0"/>
                    <a:pt x="1005840" y="65532"/>
                    <a:pt x="1005840" y="146304"/>
                  </a:cubicBezTo>
                  <a:lnTo>
                    <a:pt x="1005840" y="1499616"/>
                  </a:lnTo>
                  <a:cubicBezTo>
                    <a:pt x="1005840" y="1580388"/>
                    <a:pt x="940308" y="1645920"/>
                    <a:pt x="859536" y="1645920"/>
                  </a:cubicBezTo>
                  <a:lnTo>
                    <a:pt x="146304" y="1645920"/>
                  </a:lnTo>
                  <a:cubicBezTo>
                    <a:pt x="65532" y="1645920"/>
                    <a:pt x="0" y="1580388"/>
                    <a:pt x="0" y="1499616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7406640"/>
            <a:ext cx="754380" cy="1234440"/>
            <a:chOff x="0" y="0"/>
            <a:chExt cx="1005840" cy="1645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58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951" t="0" r="-159951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00584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41B4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851660" y="7365492"/>
            <a:ext cx="15567660" cy="1316736"/>
            <a:chOff x="0" y="0"/>
            <a:chExt cx="20756880" cy="17556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7568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0756880">
                  <a:moveTo>
                    <a:pt x="0" y="0"/>
                  </a:moveTo>
                  <a:lnTo>
                    <a:pt x="20756880" y="0"/>
                  </a:lnTo>
                  <a:lnTo>
                    <a:pt x="2075688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369" r="0" b="-18036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76200"/>
              <a:ext cx="20756880" cy="18318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2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does the communication link itself — packet loss, range limits, latency, corruption, outage — affect a distributed fusion architecture versus a centralized one?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8983980"/>
            <a:ext cx="16596360" cy="822960"/>
            <a:chOff x="0" y="0"/>
            <a:chExt cx="2212848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21284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Constraint: nothing in the sensing → tracking → fusion → trust pipeline is allowed to read ground truth to make a decision — only what a real UAV would actually have on hand. Checked by an independent leakage audit — partial pass, open corrective actions remain (see Limitations).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7323308" y="9669780"/>
            <a:ext cx="548640" cy="411480"/>
            <a:chOff x="0" y="0"/>
            <a:chExt cx="73152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8A93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Radar-Fusion UAV Swarm Simulation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 layered, non-invasive pipeline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68880"/>
            <a:ext cx="4869180" cy="987552"/>
            <a:chOff x="0" y="0"/>
            <a:chExt cx="6492240" cy="13167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922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6492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6364224" y="0"/>
                  </a:lnTo>
                  <a:cubicBezTo>
                    <a:pt x="6434963" y="0"/>
                    <a:pt x="6492240" y="57277"/>
                    <a:pt x="6492240" y="128016"/>
                  </a:cubicBezTo>
                  <a:lnTo>
                    <a:pt x="6492240" y="1188720"/>
                  </a:lnTo>
                  <a:cubicBezTo>
                    <a:pt x="6492240" y="1259459"/>
                    <a:pt x="6434963" y="1316736"/>
                    <a:pt x="6364224" y="1316736"/>
                  </a:cubicBezTo>
                  <a:lnTo>
                    <a:pt x="128016" y="1316736"/>
                  </a:lnTo>
                  <a:cubicBezTo>
                    <a:pt x="57277" y="1316736"/>
                    <a:pt x="0" y="1259459"/>
                    <a:pt x="0" y="118872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2468880"/>
            <a:ext cx="4457700" cy="987552"/>
            <a:chOff x="0" y="0"/>
            <a:chExt cx="5943600" cy="13167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43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53" r="0" b="-3795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94360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simple_swarm_sim.py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035040" y="2441448"/>
            <a:ext cx="11384280" cy="1069848"/>
            <a:chOff x="0" y="0"/>
            <a:chExt cx="15179040" cy="14264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179039" cy="1426464"/>
            </a:xfrm>
            <a:custGeom>
              <a:avLst/>
              <a:gdLst/>
              <a:ahLst/>
              <a:cxnLst/>
              <a:rect r="r" b="b" t="t" l="l"/>
              <a:pathLst>
                <a:path h="1426464" w="15179039">
                  <a:moveTo>
                    <a:pt x="0" y="0"/>
                  </a:moveTo>
                  <a:lnTo>
                    <a:pt x="15179039" y="0"/>
                  </a:lnTo>
                  <a:lnTo>
                    <a:pt x="15179039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340" r="0" b="-15734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517904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72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4-UAV kinematic simulation — motion, obstacle/target avoidance, goal-seeking, formation keeping.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948940" y="3429000"/>
            <a:ext cx="1097280" cy="301752"/>
            <a:chOff x="0" y="0"/>
            <a:chExt cx="1463040" cy="4023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" cy="402336"/>
            </a:xfrm>
            <a:custGeom>
              <a:avLst/>
              <a:gdLst/>
              <a:ahLst/>
              <a:cxnLst/>
              <a:rect r="r" b="b" t="t" l="l"/>
              <a:pathLst>
                <a:path h="40233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46304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▼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3758184"/>
            <a:ext cx="4869180" cy="987552"/>
            <a:chOff x="0" y="0"/>
            <a:chExt cx="6492240" cy="13167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922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6492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6364224" y="0"/>
                  </a:lnTo>
                  <a:cubicBezTo>
                    <a:pt x="6434963" y="0"/>
                    <a:pt x="6492240" y="57277"/>
                    <a:pt x="6492240" y="128016"/>
                  </a:cubicBezTo>
                  <a:lnTo>
                    <a:pt x="6492240" y="1188720"/>
                  </a:lnTo>
                  <a:cubicBezTo>
                    <a:pt x="6492240" y="1259459"/>
                    <a:pt x="6434963" y="1316736"/>
                    <a:pt x="6364224" y="1316736"/>
                  </a:cubicBezTo>
                  <a:lnTo>
                    <a:pt x="128016" y="1316736"/>
                  </a:lnTo>
                  <a:cubicBezTo>
                    <a:pt x="57277" y="1316736"/>
                    <a:pt x="0" y="1259459"/>
                    <a:pt x="0" y="1188720"/>
                  </a:cubicBezTo>
                  <a:close/>
                </a:path>
              </a:pathLst>
            </a:custGeom>
            <a:solidFill>
              <a:srgbClr val="3A436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28700" y="3758184"/>
            <a:ext cx="4457700" cy="987552"/>
            <a:chOff x="0" y="0"/>
            <a:chExt cx="5943600" cy="13167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43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53" r="0" b="-3795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94360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radar_like_model.py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035040" y="3730752"/>
            <a:ext cx="11384280" cy="1069848"/>
            <a:chOff x="0" y="0"/>
            <a:chExt cx="15179040" cy="14264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179039" cy="1426464"/>
            </a:xfrm>
            <a:custGeom>
              <a:avLst/>
              <a:gdLst/>
              <a:ahLst/>
              <a:cxnLst/>
              <a:rect r="r" b="b" t="t" l="l"/>
              <a:pathLst>
                <a:path h="1426464" w="15179039">
                  <a:moveTo>
                    <a:pt x="0" y="0"/>
                  </a:moveTo>
                  <a:lnTo>
                    <a:pt x="15179039" y="0"/>
                  </a:lnTo>
                  <a:lnTo>
                    <a:pt x="15179039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340" r="0" b="-15734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517904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72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Monkey-patches Perception + Simulation to layer P_D / P_FA / clutter / noise / latency / dropout on top — zero edits to the core file.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948940" y="4718304"/>
            <a:ext cx="1097280" cy="301752"/>
            <a:chOff x="0" y="0"/>
            <a:chExt cx="1463040" cy="4023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3040" cy="402336"/>
            </a:xfrm>
            <a:custGeom>
              <a:avLst/>
              <a:gdLst/>
              <a:ahLst/>
              <a:cxnLst/>
              <a:rect r="r" b="b" t="t" l="l"/>
              <a:pathLst>
                <a:path h="40233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46304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▼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5047488"/>
            <a:ext cx="4869180" cy="987552"/>
            <a:chOff x="0" y="0"/>
            <a:chExt cx="6492240" cy="13167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922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6492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6364224" y="0"/>
                  </a:lnTo>
                  <a:cubicBezTo>
                    <a:pt x="6434963" y="0"/>
                    <a:pt x="6492240" y="57277"/>
                    <a:pt x="6492240" y="128016"/>
                  </a:cubicBezTo>
                  <a:lnTo>
                    <a:pt x="6492240" y="1188720"/>
                  </a:lnTo>
                  <a:cubicBezTo>
                    <a:pt x="6492240" y="1259459"/>
                    <a:pt x="6434963" y="1316736"/>
                    <a:pt x="6364224" y="1316736"/>
                  </a:cubicBezTo>
                  <a:lnTo>
                    <a:pt x="128016" y="1316736"/>
                  </a:lnTo>
                  <a:cubicBezTo>
                    <a:pt x="57277" y="1316736"/>
                    <a:pt x="0" y="1259459"/>
                    <a:pt x="0" y="1188720"/>
                  </a:cubicBezTo>
                  <a:close/>
                </a:path>
              </a:pathLst>
            </a:custGeom>
            <a:solidFill>
              <a:srgbClr val="2E3A6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28700" y="5047488"/>
            <a:ext cx="4457700" cy="987552"/>
            <a:chOff x="0" y="0"/>
            <a:chExt cx="5943600" cy="131673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943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53" r="0" b="-3795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94360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radar_track_model.py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035040" y="5020056"/>
            <a:ext cx="11384280" cy="1069848"/>
            <a:chOff x="0" y="0"/>
            <a:chExt cx="15179040" cy="14264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179039" cy="1426464"/>
            </a:xfrm>
            <a:custGeom>
              <a:avLst/>
              <a:gdLst/>
              <a:ahLst/>
              <a:cxnLst/>
              <a:rect r="r" b="b" t="t" l="l"/>
              <a:pathLst>
                <a:path h="1426464" w="15179039">
                  <a:moveTo>
                    <a:pt x="0" y="0"/>
                  </a:moveTo>
                  <a:lnTo>
                    <a:pt x="15179039" y="0"/>
                  </a:lnTo>
                  <a:lnTo>
                    <a:pt x="15179039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340" r="0" b="-15734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517904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72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Per-UAV constant-velocity Kalman filter + Mahalanobis-gated nearest-neighbor tracking (tentative → confirmed → coasting → lost).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948940" y="6007608"/>
            <a:ext cx="1097280" cy="301752"/>
            <a:chOff x="0" y="0"/>
            <a:chExt cx="1463040" cy="4023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3040" cy="402336"/>
            </a:xfrm>
            <a:custGeom>
              <a:avLst/>
              <a:gdLst/>
              <a:ahLst/>
              <a:cxnLst/>
              <a:rect r="r" b="b" t="t" l="l"/>
              <a:pathLst>
                <a:path h="40233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146304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▼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" y="6336792"/>
            <a:ext cx="4869180" cy="987552"/>
            <a:chOff x="0" y="0"/>
            <a:chExt cx="6492240" cy="131673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4922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6492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6364224" y="0"/>
                  </a:lnTo>
                  <a:cubicBezTo>
                    <a:pt x="6434963" y="0"/>
                    <a:pt x="6492240" y="57277"/>
                    <a:pt x="6492240" y="128016"/>
                  </a:cubicBezTo>
                  <a:lnTo>
                    <a:pt x="6492240" y="1188720"/>
                  </a:lnTo>
                  <a:cubicBezTo>
                    <a:pt x="6492240" y="1259459"/>
                    <a:pt x="6434963" y="1316736"/>
                    <a:pt x="6364224" y="1316736"/>
                  </a:cubicBezTo>
                  <a:lnTo>
                    <a:pt x="128016" y="1316736"/>
                  </a:lnTo>
                  <a:cubicBezTo>
                    <a:pt x="57277" y="1316736"/>
                    <a:pt x="0" y="1259459"/>
                    <a:pt x="0" y="1188720"/>
                  </a:cubicBezTo>
                  <a:close/>
                </a:path>
              </a:pathLst>
            </a:custGeom>
            <a:solidFill>
              <a:srgbClr val="3A4694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28700" y="6336792"/>
            <a:ext cx="4457700" cy="987552"/>
            <a:chOff x="0" y="0"/>
            <a:chExt cx="5943600" cy="13167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943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53" r="0" b="-3795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594360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fusion_model.py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035040" y="6309360"/>
            <a:ext cx="11384280" cy="1069848"/>
            <a:chOff x="0" y="0"/>
            <a:chExt cx="15179040" cy="142646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5179039" cy="1426464"/>
            </a:xfrm>
            <a:custGeom>
              <a:avLst/>
              <a:gdLst/>
              <a:ahLst/>
              <a:cxnLst/>
              <a:rect r="r" b="b" t="t" l="l"/>
              <a:pathLst>
                <a:path h="1426464" w="15179039">
                  <a:moveTo>
                    <a:pt x="0" y="0"/>
                  </a:moveTo>
                  <a:lnTo>
                    <a:pt x="15179039" y="0"/>
                  </a:lnTo>
                  <a:lnTo>
                    <a:pt x="15179039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340" r="0" b="-15734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517904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72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Cross-UAV track-to-track association + 6 fusion modes, centralized or distributed, with optional dynamic trust.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948940" y="7296912"/>
            <a:ext cx="1097280" cy="301752"/>
            <a:chOff x="0" y="0"/>
            <a:chExt cx="1463040" cy="40233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63040" cy="402336"/>
            </a:xfrm>
            <a:custGeom>
              <a:avLst/>
              <a:gdLst/>
              <a:ahLst/>
              <a:cxnLst/>
              <a:rect r="r" b="b" t="t" l="l"/>
              <a:pathLst>
                <a:path h="40233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146304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▼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2960" y="7626096"/>
            <a:ext cx="4869180" cy="987552"/>
            <a:chOff x="0" y="0"/>
            <a:chExt cx="6492240" cy="13167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4922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6492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6364224" y="0"/>
                  </a:lnTo>
                  <a:cubicBezTo>
                    <a:pt x="6434963" y="0"/>
                    <a:pt x="6492240" y="57277"/>
                    <a:pt x="6492240" y="128016"/>
                  </a:cubicBezTo>
                  <a:lnTo>
                    <a:pt x="6492240" y="1188720"/>
                  </a:lnTo>
                  <a:cubicBezTo>
                    <a:pt x="6492240" y="1259459"/>
                    <a:pt x="6434963" y="1316736"/>
                    <a:pt x="6364224" y="1316736"/>
                  </a:cubicBezTo>
                  <a:lnTo>
                    <a:pt x="128016" y="1316736"/>
                  </a:lnTo>
                  <a:cubicBezTo>
                    <a:pt x="57277" y="1316736"/>
                    <a:pt x="0" y="1259459"/>
                    <a:pt x="0" y="1188720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28700" y="7626096"/>
            <a:ext cx="4457700" cy="987552"/>
            <a:chOff x="0" y="0"/>
            <a:chExt cx="5943600" cy="131673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943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53" r="0" b="-3795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594360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communication_model.py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035040" y="7598664"/>
            <a:ext cx="11384280" cy="1069848"/>
            <a:chOff x="0" y="0"/>
            <a:chExt cx="15179040" cy="142646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179039" cy="1426464"/>
            </a:xfrm>
            <a:custGeom>
              <a:avLst/>
              <a:gdLst/>
              <a:ahLst/>
              <a:cxnLst/>
              <a:rect r="r" b="b" t="t" l="l"/>
              <a:pathLst>
                <a:path h="1426464" w="15179039">
                  <a:moveTo>
                    <a:pt x="0" y="0"/>
                  </a:moveTo>
                  <a:lnTo>
                    <a:pt x="15179039" y="0"/>
                  </a:lnTo>
                  <a:lnTo>
                    <a:pt x="15179039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340" r="0" b="-15734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1517904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72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CommunicationChannel: packet loss, range gating, latency, staleness rejection, confidence corruption — used by the distributed path.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22960" y="8983980"/>
            <a:ext cx="16596360" cy="548640"/>
            <a:chOff x="0" y="0"/>
            <a:chExt cx="2212848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2128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5B628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Supporting infrastructure: metrics_analysis.py (canonical metric definitions) · build_experiment_matrix.py · run_final_simulations.py · generate_final_result_package.py · per-stage *_validation.py correctness suites.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7323308" y="9669780"/>
            <a:ext cx="548640" cy="411480"/>
            <a:chOff x="0" y="0"/>
            <a:chExt cx="731520" cy="5486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Radar-Fusion UAV Swarm Simulation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PERCEPTION LAYER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Radar model: five independent fault mechanisms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74620"/>
            <a:ext cx="9601200" cy="1440180"/>
            <a:chOff x="0" y="0"/>
            <a:chExt cx="12801600" cy="1920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016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28016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2673584" y="0"/>
                  </a:lnTo>
                  <a:cubicBezTo>
                    <a:pt x="12744323" y="0"/>
                    <a:pt x="12801600" y="57277"/>
                    <a:pt x="12801600" y="128016"/>
                  </a:cubicBezTo>
                  <a:lnTo>
                    <a:pt x="12801600" y="1792224"/>
                  </a:lnTo>
                  <a:cubicBezTo>
                    <a:pt x="12801600" y="1862963"/>
                    <a:pt x="12744323" y="1920240"/>
                    <a:pt x="12673584" y="1920240"/>
                  </a:cubicBezTo>
                  <a:lnTo>
                    <a:pt x="128016" y="1920240"/>
                  </a:lnTo>
                  <a:cubicBezTo>
                    <a:pt x="57277" y="1920240"/>
                    <a:pt x="0" y="1862963"/>
                    <a:pt x="0" y="1792224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97280" y="2784348"/>
            <a:ext cx="8915400" cy="480060"/>
            <a:chOff x="0" y="0"/>
            <a:chExt cx="1188720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87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4" r="0" b="-31186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18872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Probability of detection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3278124"/>
            <a:ext cx="8915400" cy="795528"/>
            <a:chOff x="0" y="0"/>
            <a:chExt cx="11887200" cy="10607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887200" cy="1060704"/>
            </a:xfrm>
            <a:custGeom>
              <a:avLst/>
              <a:gdLst/>
              <a:ahLst/>
              <a:cxnLst/>
              <a:rect r="r" b="b" t="t" l="l"/>
              <a:pathLst>
                <a:path h="1060704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366" r="0" b="-16836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1887200" cy="11178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Independent Bernoulli gate per real detection — a low P_D genuinely removes it from what the UAV acts on.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4293108"/>
            <a:ext cx="9601200" cy="1440180"/>
            <a:chOff x="0" y="0"/>
            <a:chExt cx="12801600" cy="19202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016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28016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2673584" y="0"/>
                  </a:lnTo>
                  <a:cubicBezTo>
                    <a:pt x="12744323" y="0"/>
                    <a:pt x="12801600" y="57277"/>
                    <a:pt x="12801600" y="128016"/>
                  </a:cubicBezTo>
                  <a:lnTo>
                    <a:pt x="12801600" y="1792224"/>
                  </a:lnTo>
                  <a:cubicBezTo>
                    <a:pt x="12801600" y="1862963"/>
                    <a:pt x="12744323" y="1920240"/>
                    <a:pt x="12673584" y="1920240"/>
                  </a:cubicBezTo>
                  <a:lnTo>
                    <a:pt x="128016" y="1920240"/>
                  </a:lnTo>
                  <a:cubicBezTo>
                    <a:pt x="57277" y="1920240"/>
                    <a:pt x="0" y="1862963"/>
                    <a:pt x="0" y="1792224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97280" y="4402836"/>
            <a:ext cx="8915400" cy="480060"/>
            <a:chOff x="0" y="0"/>
            <a:chExt cx="1188720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887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4" r="0" b="-31186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18872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False alarms / clutter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7280" y="4896612"/>
            <a:ext cx="8915400" cy="795528"/>
            <a:chOff x="0" y="0"/>
            <a:chExt cx="11887200" cy="10607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887200" cy="1060704"/>
            </a:xfrm>
            <a:custGeom>
              <a:avLst/>
              <a:gdLst/>
              <a:ahLst/>
              <a:cxnLst/>
              <a:rect r="r" b="b" t="t" l="l"/>
              <a:pathLst>
                <a:path h="1060704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366" r="0" b="-16836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1887200" cy="11178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Poisson-distributed clutter candidates per step, positioned in their own range annulus, injected into the same stream the UAV steers on.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5911596"/>
            <a:ext cx="9601200" cy="1440180"/>
            <a:chOff x="0" y="0"/>
            <a:chExt cx="12801600" cy="19202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16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28016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2673584" y="0"/>
                  </a:lnTo>
                  <a:cubicBezTo>
                    <a:pt x="12744323" y="0"/>
                    <a:pt x="12801600" y="57277"/>
                    <a:pt x="12801600" y="128016"/>
                  </a:cubicBezTo>
                  <a:lnTo>
                    <a:pt x="12801600" y="1792224"/>
                  </a:lnTo>
                  <a:cubicBezTo>
                    <a:pt x="12801600" y="1862963"/>
                    <a:pt x="12744323" y="1920240"/>
                    <a:pt x="12673584" y="1920240"/>
                  </a:cubicBezTo>
                  <a:lnTo>
                    <a:pt x="128016" y="1920240"/>
                  </a:lnTo>
                  <a:cubicBezTo>
                    <a:pt x="57277" y="1920240"/>
                    <a:pt x="0" y="1862963"/>
                    <a:pt x="0" y="1792224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97280" y="6021324"/>
            <a:ext cx="8915400" cy="480060"/>
            <a:chOff x="0" y="0"/>
            <a:chExt cx="11887200" cy="640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887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4" r="0" b="-31186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8872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Measurement uncertainty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7280" y="6515100"/>
            <a:ext cx="8915400" cy="795528"/>
            <a:chOff x="0" y="0"/>
            <a:chExt cx="11887200" cy="10607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887200" cy="1060704"/>
            </a:xfrm>
            <a:custGeom>
              <a:avLst/>
              <a:gdLst/>
              <a:ahLst/>
              <a:cxnLst/>
              <a:rect r="r" b="b" t="t" l="l"/>
              <a:pathLst>
                <a:path h="1060704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366" r="0" b="-16836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1887200" cy="11178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measurement carries an explicit per-channel variance and a 3×3 covariance — not one flat noise std applied uniformly.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7530084"/>
            <a:ext cx="9601200" cy="1440180"/>
            <a:chOff x="0" y="0"/>
            <a:chExt cx="12801600" cy="1920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8016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28016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2673584" y="0"/>
                  </a:lnTo>
                  <a:cubicBezTo>
                    <a:pt x="12744323" y="0"/>
                    <a:pt x="12801600" y="57277"/>
                    <a:pt x="12801600" y="128016"/>
                  </a:cubicBezTo>
                  <a:lnTo>
                    <a:pt x="12801600" y="1792224"/>
                  </a:lnTo>
                  <a:cubicBezTo>
                    <a:pt x="12801600" y="1862963"/>
                    <a:pt x="12744323" y="1920240"/>
                    <a:pt x="12673584" y="1920240"/>
                  </a:cubicBezTo>
                  <a:lnTo>
                    <a:pt x="128016" y="1920240"/>
                  </a:lnTo>
                  <a:cubicBezTo>
                    <a:pt x="57277" y="1920240"/>
                    <a:pt x="0" y="1862963"/>
                    <a:pt x="0" y="1792224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97280" y="7639812"/>
            <a:ext cx="8915400" cy="480060"/>
            <a:chOff x="0" y="0"/>
            <a:chExt cx="1188720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887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4" r="0" b="-31186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18872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Latency &amp; dropout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97280" y="8133588"/>
            <a:ext cx="8915400" cy="795528"/>
            <a:chOff x="0" y="0"/>
            <a:chExt cx="11887200" cy="106070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887200" cy="1060704"/>
            </a:xfrm>
            <a:custGeom>
              <a:avLst/>
              <a:gdLst/>
              <a:ahLst/>
              <a:cxnLst/>
              <a:rect r="r" b="b" t="t" l="l"/>
              <a:pathLst>
                <a:path h="1060704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366" r="0" b="-16836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11887200" cy="11178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Configurable per-radar delay in steps plus Bernoulli/duration-based blackout windows.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972800" y="2674620"/>
            <a:ext cx="6446520" cy="6446520"/>
            <a:chOff x="0" y="0"/>
            <a:chExt cx="8595360" cy="8595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95361" cy="8595361"/>
            </a:xfrm>
            <a:custGeom>
              <a:avLst/>
              <a:gdLst/>
              <a:ahLst/>
              <a:cxnLst/>
              <a:rect r="r" b="b" t="t" l="l"/>
              <a:pathLst>
                <a:path h="8595361" w="85953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449056" y="0"/>
                  </a:lnTo>
                  <a:cubicBezTo>
                    <a:pt x="8529828" y="0"/>
                    <a:pt x="8595361" y="65532"/>
                    <a:pt x="8595361" y="146304"/>
                  </a:cubicBezTo>
                  <a:lnTo>
                    <a:pt x="8595361" y="8449056"/>
                  </a:lnTo>
                  <a:cubicBezTo>
                    <a:pt x="8595361" y="8529828"/>
                    <a:pt x="8529828" y="8595361"/>
                    <a:pt x="8449056" y="8595361"/>
                  </a:cubicBezTo>
                  <a:lnTo>
                    <a:pt x="146304" y="8595361"/>
                  </a:lnTo>
                  <a:cubicBezTo>
                    <a:pt x="65532" y="8595360"/>
                    <a:pt x="0" y="8529828"/>
                    <a:pt x="0" y="844905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384280" y="3017520"/>
            <a:ext cx="5623560" cy="480060"/>
            <a:chOff x="0" y="0"/>
            <a:chExt cx="7498080" cy="6400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498080" cy="640080"/>
            </a:xfrm>
            <a:custGeom>
              <a:avLst/>
              <a:gdLst/>
              <a:ahLst/>
              <a:cxnLst/>
              <a:rect r="r" b="b" t="t" l="l"/>
              <a:pathLst>
                <a:path h="64008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74980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25">
                  <a:solidFill>
                    <a:srgbClr val="E8A3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BASELINE RADAR PARAMETERS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384280" y="3703320"/>
            <a:ext cx="3429000" cy="493776"/>
            <a:chOff x="0" y="0"/>
            <a:chExt cx="4572000" cy="65836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572000" cy="658368"/>
            </a:xfrm>
            <a:custGeom>
              <a:avLst/>
              <a:gdLst/>
              <a:ahLst/>
              <a:cxnLst/>
              <a:rect r="r" b="b" t="t" l="l"/>
              <a:pathLst>
                <a:path h="65836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45720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Max range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470380" y="3703320"/>
            <a:ext cx="2743200" cy="493776"/>
            <a:chOff x="0" y="0"/>
            <a:chExt cx="3657600" cy="65836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57600" cy="658368"/>
            </a:xfrm>
            <a:custGeom>
              <a:avLst/>
              <a:gdLst/>
              <a:ahLst/>
              <a:cxnLst/>
              <a:rect r="r" b="b" t="t" l="l"/>
              <a:pathLst>
                <a:path h="65836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36576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 units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384280" y="4306824"/>
            <a:ext cx="3429000" cy="493776"/>
            <a:chOff x="0" y="0"/>
            <a:chExt cx="4572000" cy="65836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572000" cy="658368"/>
            </a:xfrm>
            <a:custGeom>
              <a:avLst/>
              <a:gdLst/>
              <a:ahLst/>
              <a:cxnLst/>
              <a:rect r="r" b="b" t="t" l="l"/>
              <a:pathLst>
                <a:path h="65836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45720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Field of view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470380" y="4306824"/>
            <a:ext cx="2743200" cy="493776"/>
            <a:chOff x="0" y="0"/>
            <a:chExt cx="3657600" cy="6583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657600" cy="658368"/>
            </a:xfrm>
            <a:custGeom>
              <a:avLst/>
              <a:gdLst/>
              <a:ahLst/>
              <a:cxnLst/>
              <a:rect r="r" b="b" t="t" l="l"/>
              <a:pathLst>
                <a:path h="65836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36576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360°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384280" y="4910328"/>
            <a:ext cx="3429000" cy="493776"/>
            <a:chOff x="0" y="0"/>
            <a:chExt cx="4572000" cy="65836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572000" cy="658368"/>
            </a:xfrm>
            <a:custGeom>
              <a:avLst/>
              <a:gdLst/>
              <a:ahLst/>
              <a:cxnLst/>
              <a:rect r="r" b="b" t="t" l="l"/>
              <a:pathLst>
                <a:path h="65836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45720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Update rate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470380" y="4910328"/>
            <a:ext cx="2743200" cy="493776"/>
            <a:chOff x="0" y="0"/>
            <a:chExt cx="3657600" cy="65836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57600" cy="658368"/>
            </a:xfrm>
            <a:custGeom>
              <a:avLst/>
              <a:gdLst/>
              <a:ahLst/>
              <a:cxnLst/>
              <a:rect r="r" b="b" t="t" l="l"/>
              <a:pathLst>
                <a:path h="65836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36576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 Hz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384280" y="5513832"/>
            <a:ext cx="3429000" cy="493776"/>
            <a:chOff x="0" y="0"/>
            <a:chExt cx="4572000" cy="65836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572000" cy="658368"/>
            </a:xfrm>
            <a:custGeom>
              <a:avLst/>
              <a:gdLst/>
              <a:ahLst/>
              <a:cxnLst/>
              <a:rect r="r" b="b" t="t" l="l"/>
              <a:pathLst>
                <a:path h="65836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45720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P_D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470380" y="5513832"/>
            <a:ext cx="2743200" cy="493776"/>
            <a:chOff x="0" y="0"/>
            <a:chExt cx="3657600" cy="65836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657600" cy="658368"/>
            </a:xfrm>
            <a:custGeom>
              <a:avLst/>
              <a:gdLst/>
              <a:ahLst/>
              <a:cxnLst/>
              <a:rect r="r" b="b" t="t" l="l"/>
              <a:pathLst>
                <a:path h="65836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36576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1.0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384280" y="6117336"/>
            <a:ext cx="3429000" cy="493776"/>
            <a:chOff x="0" y="0"/>
            <a:chExt cx="4572000" cy="65836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572000" cy="658368"/>
            </a:xfrm>
            <a:custGeom>
              <a:avLst/>
              <a:gdLst/>
              <a:ahLst/>
              <a:cxnLst/>
              <a:rect r="r" b="b" t="t" l="l"/>
              <a:pathLst>
                <a:path h="65836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45720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P_FA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4470380" y="6117336"/>
            <a:ext cx="2743200" cy="493776"/>
            <a:chOff x="0" y="0"/>
            <a:chExt cx="3657600" cy="65836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657600" cy="658368"/>
            </a:xfrm>
            <a:custGeom>
              <a:avLst/>
              <a:gdLst/>
              <a:ahLst/>
              <a:cxnLst/>
              <a:rect r="r" b="b" t="t" l="l"/>
              <a:pathLst>
                <a:path h="65836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36576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0.0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384280" y="6720840"/>
            <a:ext cx="3429000" cy="493776"/>
            <a:chOff x="0" y="0"/>
            <a:chExt cx="4572000" cy="65836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572000" cy="658368"/>
            </a:xfrm>
            <a:custGeom>
              <a:avLst/>
              <a:gdLst/>
              <a:ahLst/>
              <a:cxnLst/>
              <a:rect r="r" b="b" t="t" l="l"/>
              <a:pathLst>
                <a:path h="65836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45720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Range-noise σ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4470380" y="6720840"/>
            <a:ext cx="2743200" cy="493776"/>
            <a:chOff x="0" y="0"/>
            <a:chExt cx="3657600" cy="65836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657600" cy="658368"/>
            </a:xfrm>
            <a:custGeom>
              <a:avLst/>
              <a:gdLst/>
              <a:ahLst/>
              <a:cxnLst/>
              <a:rect r="r" b="b" t="t" l="l"/>
              <a:pathLst>
                <a:path h="65836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36576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0.3 m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1384280" y="7324344"/>
            <a:ext cx="3429000" cy="493776"/>
            <a:chOff x="0" y="0"/>
            <a:chExt cx="4572000" cy="65836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572000" cy="658368"/>
            </a:xfrm>
            <a:custGeom>
              <a:avLst/>
              <a:gdLst/>
              <a:ahLst/>
              <a:cxnLst/>
              <a:rect r="r" b="b" t="t" l="l"/>
              <a:pathLst>
                <a:path h="65836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45720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Radial-vel. noise σ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4470380" y="7324344"/>
            <a:ext cx="2743200" cy="493776"/>
            <a:chOff x="0" y="0"/>
            <a:chExt cx="3657600" cy="65836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657600" cy="658368"/>
            </a:xfrm>
            <a:custGeom>
              <a:avLst/>
              <a:gdLst/>
              <a:ahLst/>
              <a:cxnLst/>
              <a:rect r="r" b="b" t="t" l="l"/>
              <a:pathLst>
                <a:path h="65836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36576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0.1 units/s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1384280" y="7927848"/>
            <a:ext cx="3429000" cy="493776"/>
            <a:chOff x="0" y="0"/>
            <a:chExt cx="4572000" cy="65836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572000" cy="658368"/>
            </a:xfrm>
            <a:custGeom>
              <a:avLst/>
              <a:gdLst/>
              <a:ahLst/>
              <a:cxnLst/>
              <a:rect r="r" b="b" t="t" l="l"/>
              <a:pathLst>
                <a:path h="65836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45720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Latency / dropout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4470380" y="7927848"/>
            <a:ext cx="2743200" cy="493776"/>
            <a:chOff x="0" y="0"/>
            <a:chExt cx="3657600" cy="65836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657600" cy="658368"/>
            </a:xfrm>
            <a:custGeom>
              <a:avLst/>
              <a:gdLst/>
              <a:ahLst/>
              <a:cxnLst/>
              <a:rect r="r" b="b" t="t" l="l"/>
              <a:pathLst>
                <a:path h="65836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36576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 (clean reference)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1384280" y="8503920"/>
            <a:ext cx="5623560" cy="548640"/>
            <a:chOff x="0" y="0"/>
            <a:chExt cx="7498080" cy="7315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498080" cy="731520"/>
            </a:xfrm>
            <a:custGeom>
              <a:avLst/>
              <a:gdLst/>
              <a:ahLst/>
              <a:cxnLst/>
              <a:rect r="r" b="b" t="t" l="l"/>
              <a:pathLst>
                <a:path h="73152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74980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Every degraded scenario is a delta from this clean-sensor reference.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7323308" y="9669780"/>
            <a:ext cx="548640" cy="411480"/>
            <a:chOff x="0" y="0"/>
            <a:chExt cx="731520" cy="5486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Radar-Fusion UAV Swarm Simulation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PERCEPTION LAYER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Tracking: gated Kalman filtering per radar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743200"/>
            <a:ext cx="3182112" cy="4526280"/>
            <a:chOff x="0" y="0"/>
            <a:chExt cx="4242816" cy="6035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42816" cy="6035040"/>
            </a:xfrm>
            <a:custGeom>
              <a:avLst/>
              <a:gdLst/>
              <a:ahLst/>
              <a:cxnLst/>
              <a:rect r="r" b="b" t="t" l="l"/>
              <a:pathLst>
                <a:path h="6035040" w="4242816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114800" y="0"/>
                  </a:lnTo>
                  <a:cubicBezTo>
                    <a:pt x="4185539" y="0"/>
                    <a:pt x="4242816" y="57277"/>
                    <a:pt x="4242816" y="128016"/>
                  </a:cubicBezTo>
                  <a:lnTo>
                    <a:pt x="4242816" y="5907024"/>
                  </a:lnTo>
                  <a:cubicBezTo>
                    <a:pt x="4242816" y="5977763"/>
                    <a:pt x="4185539" y="6035040"/>
                    <a:pt x="4114800" y="6035040"/>
                  </a:cubicBezTo>
                  <a:lnTo>
                    <a:pt x="128016" y="6035040"/>
                  </a:lnTo>
                  <a:cubicBezTo>
                    <a:pt x="57277" y="6035040"/>
                    <a:pt x="0" y="5977763"/>
                    <a:pt x="0" y="5907024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2948940"/>
            <a:ext cx="2770632" cy="548640"/>
            <a:chOff x="0" y="0"/>
            <a:chExt cx="3694176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94176" cy="731520"/>
            </a:xfrm>
            <a:custGeom>
              <a:avLst/>
              <a:gdLst/>
              <a:ahLst/>
              <a:cxnLst/>
              <a:rect r="r" b="b" t="t" l="l"/>
              <a:pathLst>
                <a:path h="731520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99" r="0" b="-4839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694176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E8A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1. Predict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3566160"/>
            <a:ext cx="2770632" cy="3566160"/>
            <a:chOff x="0" y="0"/>
            <a:chExt cx="3694176" cy="47548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94176" cy="4754880"/>
            </a:xfrm>
            <a:custGeom>
              <a:avLst/>
              <a:gdLst/>
              <a:ahLst/>
              <a:cxnLst/>
              <a:rect r="r" b="b" t="t" l="l"/>
              <a:pathLst>
                <a:path h="4754880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143" t="0" r="-11514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3694176" cy="4802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7"/>
                </a:lnSpc>
              </a:pPr>
              <a:r>
                <a:rPr lang="en-US" sz="162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existing track predicts forward under a constant-velocity motion model (Kalman predict).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183380" y="2743200"/>
            <a:ext cx="3182112" cy="4526280"/>
            <a:chOff x="0" y="0"/>
            <a:chExt cx="4242816" cy="6035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42816" cy="6035040"/>
            </a:xfrm>
            <a:custGeom>
              <a:avLst/>
              <a:gdLst/>
              <a:ahLst/>
              <a:cxnLst/>
              <a:rect r="r" b="b" t="t" l="l"/>
              <a:pathLst>
                <a:path h="6035040" w="4242816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114800" y="0"/>
                  </a:lnTo>
                  <a:cubicBezTo>
                    <a:pt x="4185539" y="0"/>
                    <a:pt x="4242816" y="57277"/>
                    <a:pt x="4242816" y="128016"/>
                  </a:cubicBezTo>
                  <a:lnTo>
                    <a:pt x="4242816" y="5907024"/>
                  </a:lnTo>
                  <a:cubicBezTo>
                    <a:pt x="4242816" y="5977763"/>
                    <a:pt x="4185539" y="6035040"/>
                    <a:pt x="4114800" y="6035040"/>
                  </a:cubicBezTo>
                  <a:lnTo>
                    <a:pt x="128016" y="6035040"/>
                  </a:lnTo>
                  <a:cubicBezTo>
                    <a:pt x="57277" y="6035040"/>
                    <a:pt x="0" y="5977763"/>
                    <a:pt x="0" y="5907024"/>
                  </a:cubicBezTo>
                  <a:close/>
                </a:path>
              </a:pathLst>
            </a:custGeom>
            <a:solidFill>
              <a:srgbClr val="3A436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389120" y="2948940"/>
            <a:ext cx="2770632" cy="548640"/>
            <a:chOff x="0" y="0"/>
            <a:chExt cx="3694176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94176" cy="731520"/>
            </a:xfrm>
            <a:custGeom>
              <a:avLst/>
              <a:gdLst/>
              <a:ahLst/>
              <a:cxnLst/>
              <a:rect r="r" b="b" t="t" l="l"/>
              <a:pathLst>
                <a:path h="731520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99" r="0" b="-4839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694176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E8A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2. Gate &amp; associate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389120" y="3566160"/>
            <a:ext cx="2770632" cy="3566160"/>
            <a:chOff x="0" y="0"/>
            <a:chExt cx="3694176" cy="4754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94176" cy="4754880"/>
            </a:xfrm>
            <a:custGeom>
              <a:avLst/>
              <a:gdLst/>
              <a:ahLst/>
              <a:cxnLst/>
              <a:rect r="r" b="b" t="t" l="l"/>
              <a:pathLst>
                <a:path h="4754880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143" t="0" r="-11514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694176" cy="4802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7"/>
                </a:lnSpc>
              </a:pPr>
              <a:r>
                <a:rPr lang="en-US" sz="162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Matched to this step's detections by nearest neighbor, gated on Mahalanobis distance using the track's own innovation covariance — the gate tightens or loosens with current uncertainty.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543800" y="2743200"/>
            <a:ext cx="3182112" cy="4526280"/>
            <a:chOff x="0" y="0"/>
            <a:chExt cx="4242816" cy="6035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42816" cy="6035040"/>
            </a:xfrm>
            <a:custGeom>
              <a:avLst/>
              <a:gdLst/>
              <a:ahLst/>
              <a:cxnLst/>
              <a:rect r="r" b="b" t="t" l="l"/>
              <a:pathLst>
                <a:path h="6035040" w="4242816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114800" y="0"/>
                  </a:lnTo>
                  <a:cubicBezTo>
                    <a:pt x="4185539" y="0"/>
                    <a:pt x="4242816" y="57277"/>
                    <a:pt x="4242816" y="128016"/>
                  </a:cubicBezTo>
                  <a:lnTo>
                    <a:pt x="4242816" y="5907024"/>
                  </a:lnTo>
                  <a:cubicBezTo>
                    <a:pt x="4242816" y="5977763"/>
                    <a:pt x="4185539" y="6035040"/>
                    <a:pt x="4114800" y="6035040"/>
                  </a:cubicBezTo>
                  <a:lnTo>
                    <a:pt x="128016" y="6035040"/>
                  </a:lnTo>
                  <a:cubicBezTo>
                    <a:pt x="57277" y="6035040"/>
                    <a:pt x="0" y="5977763"/>
                    <a:pt x="0" y="5907024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749540" y="2948940"/>
            <a:ext cx="2770632" cy="548640"/>
            <a:chOff x="0" y="0"/>
            <a:chExt cx="3694176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94176" cy="731520"/>
            </a:xfrm>
            <a:custGeom>
              <a:avLst/>
              <a:gdLst/>
              <a:ahLst/>
              <a:cxnLst/>
              <a:rect r="r" b="b" t="t" l="l"/>
              <a:pathLst>
                <a:path h="731520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99" r="0" b="-4839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3694176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E8A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3. Update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749540" y="3566160"/>
            <a:ext cx="2770632" cy="3566160"/>
            <a:chOff x="0" y="0"/>
            <a:chExt cx="3694176" cy="4754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94176" cy="4754880"/>
            </a:xfrm>
            <a:custGeom>
              <a:avLst/>
              <a:gdLst/>
              <a:ahLst/>
              <a:cxnLst/>
              <a:rect r="r" b="b" t="t" l="l"/>
              <a:pathLst>
                <a:path h="4754880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143" t="0" r="-11514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3694176" cy="4802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7"/>
                </a:lnSpc>
              </a:pPr>
              <a:r>
                <a:rPr lang="en-US" sz="162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Matched tracks run a Kalman update, reset missed_count, and raise existence_probability.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904220" y="2743200"/>
            <a:ext cx="3182112" cy="4526280"/>
            <a:chOff x="0" y="0"/>
            <a:chExt cx="4242816" cy="6035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242816" cy="6035040"/>
            </a:xfrm>
            <a:custGeom>
              <a:avLst/>
              <a:gdLst/>
              <a:ahLst/>
              <a:cxnLst/>
              <a:rect r="r" b="b" t="t" l="l"/>
              <a:pathLst>
                <a:path h="6035040" w="4242816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114800" y="0"/>
                  </a:lnTo>
                  <a:cubicBezTo>
                    <a:pt x="4185539" y="0"/>
                    <a:pt x="4242816" y="57277"/>
                    <a:pt x="4242816" y="128016"/>
                  </a:cubicBezTo>
                  <a:lnTo>
                    <a:pt x="4242816" y="5907024"/>
                  </a:lnTo>
                  <a:cubicBezTo>
                    <a:pt x="4242816" y="5977763"/>
                    <a:pt x="4185539" y="6035040"/>
                    <a:pt x="4114800" y="6035040"/>
                  </a:cubicBezTo>
                  <a:lnTo>
                    <a:pt x="128016" y="6035040"/>
                  </a:lnTo>
                  <a:cubicBezTo>
                    <a:pt x="57277" y="6035040"/>
                    <a:pt x="0" y="5977763"/>
                    <a:pt x="0" y="5907024"/>
                  </a:cubicBezTo>
                  <a:close/>
                </a:path>
              </a:pathLst>
            </a:custGeom>
            <a:solidFill>
              <a:srgbClr val="3A4368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109960" y="2948940"/>
            <a:ext cx="2770632" cy="548640"/>
            <a:chOff x="0" y="0"/>
            <a:chExt cx="3694176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94176" cy="731520"/>
            </a:xfrm>
            <a:custGeom>
              <a:avLst/>
              <a:gdLst/>
              <a:ahLst/>
              <a:cxnLst/>
              <a:rect r="r" b="b" t="t" l="l"/>
              <a:pathLst>
                <a:path h="731520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99" r="0" b="-4839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3694176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E8A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4. Age / delete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109960" y="3566160"/>
            <a:ext cx="2770632" cy="3566160"/>
            <a:chOff x="0" y="0"/>
            <a:chExt cx="3694176" cy="47548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94176" cy="4754880"/>
            </a:xfrm>
            <a:custGeom>
              <a:avLst/>
              <a:gdLst/>
              <a:ahLst/>
              <a:cxnLst/>
              <a:rect r="r" b="b" t="t" l="l"/>
              <a:pathLst>
                <a:path h="4754880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143" t="0" r="-11514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3694176" cy="4802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7"/>
                </a:lnSpc>
              </a:pPr>
              <a:r>
                <a:rPr lang="en-US" sz="162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Unmatched tracks decay: missed_count increments, existence_probability falls; enough consecutive misses moves a track lost → deleted.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264640" y="2743200"/>
            <a:ext cx="3182112" cy="4526280"/>
            <a:chOff x="0" y="0"/>
            <a:chExt cx="4242816" cy="6035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42816" cy="6035040"/>
            </a:xfrm>
            <a:custGeom>
              <a:avLst/>
              <a:gdLst/>
              <a:ahLst/>
              <a:cxnLst/>
              <a:rect r="r" b="b" t="t" l="l"/>
              <a:pathLst>
                <a:path h="6035040" w="4242816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114800" y="0"/>
                  </a:lnTo>
                  <a:cubicBezTo>
                    <a:pt x="4185539" y="0"/>
                    <a:pt x="4242816" y="57277"/>
                    <a:pt x="4242816" y="128016"/>
                  </a:cubicBezTo>
                  <a:lnTo>
                    <a:pt x="4242816" y="5907024"/>
                  </a:lnTo>
                  <a:cubicBezTo>
                    <a:pt x="4242816" y="5977763"/>
                    <a:pt x="4185539" y="6035040"/>
                    <a:pt x="4114800" y="6035040"/>
                  </a:cubicBezTo>
                  <a:lnTo>
                    <a:pt x="128016" y="6035040"/>
                  </a:lnTo>
                  <a:cubicBezTo>
                    <a:pt x="57277" y="6035040"/>
                    <a:pt x="0" y="5977763"/>
                    <a:pt x="0" y="5907024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470380" y="2948940"/>
            <a:ext cx="2770632" cy="548640"/>
            <a:chOff x="0" y="0"/>
            <a:chExt cx="3694176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94176" cy="731520"/>
            </a:xfrm>
            <a:custGeom>
              <a:avLst/>
              <a:gdLst/>
              <a:ahLst/>
              <a:cxnLst/>
              <a:rect r="r" b="b" t="t" l="l"/>
              <a:pathLst>
                <a:path h="731520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99" r="0" b="-4839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3694176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E8A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5. Spawn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470380" y="3566160"/>
            <a:ext cx="2770632" cy="3566160"/>
            <a:chOff x="0" y="0"/>
            <a:chExt cx="3694176" cy="47548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694176" cy="4754880"/>
            </a:xfrm>
            <a:custGeom>
              <a:avLst/>
              <a:gdLst/>
              <a:ahLst/>
              <a:cxnLst/>
              <a:rect r="r" b="b" t="t" l="l"/>
              <a:pathLst>
                <a:path h="4754880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143" t="0" r="-11514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3694176" cy="4802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7"/>
                </a:lnSpc>
              </a:pPr>
              <a:r>
                <a:rPr lang="en-US" sz="162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Unmatched detections spawn tentative tracks, confirmed after CONFIRM_HITS consecutive matches.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2960" y="7612380"/>
            <a:ext cx="16596360" cy="685800"/>
            <a:chOff x="0" y="0"/>
            <a:chExt cx="22128480" cy="914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7" r="0" b="-42153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221284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5B628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Each track carries: filtered position/velocity, full 4×4 state covariance, confidence from the most recent matched detection, age, hit/missed counts, existence probability, and status.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22960" y="8503920"/>
            <a:ext cx="16596360" cy="754380"/>
            <a:chOff x="0" y="0"/>
            <a:chExt cx="22128480" cy="10058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1284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28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2018752" y="0"/>
                  </a:lnTo>
                  <a:cubicBezTo>
                    <a:pt x="22079331" y="0"/>
                    <a:pt x="22128480" y="49149"/>
                    <a:pt x="22128480" y="109728"/>
                  </a:cubicBezTo>
                  <a:lnTo>
                    <a:pt x="22128480" y="896112"/>
                  </a:lnTo>
                  <a:cubicBezTo>
                    <a:pt x="22128480" y="956691"/>
                    <a:pt x="22079331" y="1005840"/>
                    <a:pt x="22018752" y="1005840"/>
                  </a:cubicBezTo>
                  <a:lnTo>
                    <a:pt x="109728" y="1005840"/>
                  </a:lnTo>
                  <a:cubicBezTo>
                    <a:pt x="49149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E9F5E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65860" y="8503920"/>
            <a:ext cx="15910560" cy="754380"/>
            <a:chOff x="0" y="0"/>
            <a:chExt cx="21214080" cy="10058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214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957" r="0" b="-36095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12140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3FA7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Validated independently: 40/40 deterministic tracker-logic checks pass — including exact filter convergence to true position on a clean constant-velocity target.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7323308" y="9669780"/>
            <a:ext cx="548640" cy="411480"/>
            <a:chOff x="0" y="0"/>
            <a:chExt cx="73152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Radar-Fusion UAV Swarm Simulation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FUSION LAYER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Six fusion modes, one reliability model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74620"/>
            <a:ext cx="16596360" cy="850392"/>
            <a:chOff x="0" y="0"/>
            <a:chExt cx="22128480" cy="11338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28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2018752" y="0"/>
                  </a:lnTo>
                  <a:cubicBezTo>
                    <a:pt x="22079331" y="0"/>
                    <a:pt x="22128480" y="49149"/>
                    <a:pt x="22128480" y="109728"/>
                  </a:cubicBezTo>
                  <a:lnTo>
                    <a:pt x="22128480" y="1024128"/>
                  </a:lnTo>
                  <a:cubicBezTo>
                    <a:pt x="22128480" y="1084707"/>
                    <a:pt x="22079331" y="1133856"/>
                    <a:pt x="22018752" y="1133856"/>
                  </a:cubicBezTo>
                  <a:lnTo>
                    <a:pt x="109728" y="1133856"/>
                  </a:lnTo>
                  <a:cubicBezTo>
                    <a:pt x="49149" y="1133856"/>
                    <a:pt x="0" y="1084707"/>
                    <a:pt x="0" y="1024128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674620"/>
            <a:ext cx="4800600" cy="850392"/>
            <a:chOff x="0" y="0"/>
            <a:chExt cx="6400800" cy="11338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08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96" r="0" b="-5999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008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76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no_fusion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172200" y="2674620"/>
            <a:ext cx="10972800" cy="850392"/>
            <a:chOff x="0" y="0"/>
            <a:chExt cx="14630400" cy="11338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19" r="0" b="-20141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6304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UAV's own track stands alone (control).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3662172"/>
            <a:ext cx="16596360" cy="850392"/>
            <a:chOff x="0" y="0"/>
            <a:chExt cx="22128480" cy="11338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1284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28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2018752" y="0"/>
                  </a:lnTo>
                  <a:cubicBezTo>
                    <a:pt x="22079331" y="0"/>
                    <a:pt x="22128480" y="49149"/>
                    <a:pt x="22128480" y="109728"/>
                  </a:cubicBezTo>
                  <a:lnTo>
                    <a:pt x="22128480" y="1024128"/>
                  </a:lnTo>
                  <a:cubicBezTo>
                    <a:pt x="22128480" y="1084707"/>
                    <a:pt x="22079331" y="1133856"/>
                    <a:pt x="22018752" y="1133856"/>
                  </a:cubicBezTo>
                  <a:lnTo>
                    <a:pt x="109728" y="1133856"/>
                  </a:lnTo>
                  <a:cubicBezTo>
                    <a:pt x="49149" y="1133856"/>
                    <a:pt x="0" y="1084707"/>
                    <a:pt x="0" y="10241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65860" y="3662172"/>
            <a:ext cx="4800600" cy="850392"/>
            <a:chOff x="0" y="0"/>
            <a:chExt cx="6400800" cy="11338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008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96" r="0" b="-5999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4008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76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naive_fusion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172200" y="3662172"/>
            <a:ext cx="10972800" cy="850392"/>
            <a:chOff x="0" y="0"/>
            <a:chExt cx="14630400" cy="11338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19" r="0" b="-20141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46304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Unweighted average across UAVs agreeing on the same object.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4649724"/>
            <a:ext cx="16596360" cy="850392"/>
            <a:chOff x="0" y="0"/>
            <a:chExt cx="22128480" cy="11338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1284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28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2018752" y="0"/>
                  </a:lnTo>
                  <a:cubicBezTo>
                    <a:pt x="22079331" y="0"/>
                    <a:pt x="22128480" y="49149"/>
                    <a:pt x="22128480" y="109728"/>
                  </a:cubicBezTo>
                  <a:lnTo>
                    <a:pt x="22128480" y="1024128"/>
                  </a:lnTo>
                  <a:cubicBezTo>
                    <a:pt x="22128480" y="1084707"/>
                    <a:pt x="22079331" y="1133856"/>
                    <a:pt x="22018752" y="1133856"/>
                  </a:cubicBezTo>
                  <a:lnTo>
                    <a:pt x="109728" y="1133856"/>
                  </a:lnTo>
                  <a:cubicBezTo>
                    <a:pt x="49149" y="1133856"/>
                    <a:pt x="0" y="1084707"/>
                    <a:pt x="0" y="1024128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65860" y="4649724"/>
            <a:ext cx="4800600" cy="850392"/>
            <a:chOff x="0" y="0"/>
            <a:chExt cx="6400800" cy="11338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008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96" r="0" b="-5999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4008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76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confidence_weighted_fusion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72200" y="4649724"/>
            <a:ext cx="10972800" cy="850392"/>
            <a:chOff x="0" y="0"/>
            <a:chExt cx="14630400" cy="11338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19" r="0" b="-20141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46304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Weight = track's own reported confidence.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5637276"/>
            <a:ext cx="16596360" cy="850392"/>
            <a:chOff x="0" y="0"/>
            <a:chExt cx="22128480" cy="11338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1284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28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2018752" y="0"/>
                  </a:lnTo>
                  <a:cubicBezTo>
                    <a:pt x="22079331" y="0"/>
                    <a:pt x="22128480" y="49149"/>
                    <a:pt x="22128480" y="109728"/>
                  </a:cubicBezTo>
                  <a:lnTo>
                    <a:pt x="22128480" y="1024128"/>
                  </a:lnTo>
                  <a:cubicBezTo>
                    <a:pt x="22128480" y="1084707"/>
                    <a:pt x="22079331" y="1133856"/>
                    <a:pt x="22018752" y="1133856"/>
                  </a:cubicBezTo>
                  <a:lnTo>
                    <a:pt x="109728" y="1133856"/>
                  </a:lnTo>
                  <a:cubicBezTo>
                    <a:pt x="49149" y="1133856"/>
                    <a:pt x="0" y="1084707"/>
                    <a:pt x="0" y="10241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65860" y="5637276"/>
            <a:ext cx="4800600" cy="850392"/>
            <a:chOff x="0" y="0"/>
            <a:chExt cx="6400800" cy="11338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4008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96" r="0" b="-5999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4008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76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trust_weighted_fusion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172200" y="5637276"/>
            <a:ext cx="10972800" cy="850392"/>
            <a:chOff x="0" y="0"/>
            <a:chExt cx="14630400" cy="11338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630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19" r="0" b="-20141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46304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Weight = confidence × status reliability × composite reliability (age, latency, dropout, optional dynamic trust).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6624828"/>
            <a:ext cx="16596360" cy="850392"/>
            <a:chOff x="0" y="0"/>
            <a:chExt cx="22128480" cy="11338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1284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28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2018752" y="0"/>
                  </a:lnTo>
                  <a:cubicBezTo>
                    <a:pt x="22079331" y="0"/>
                    <a:pt x="22128480" y="49149"/>
                    <a:pt x="22128480" y="109728"/>
                  </a:cubicBezTo>
                  <a:lnTo>
                    <a:pt x="22128480" y="1024128"/>
                  </a:lnTo>
                  <a:cubicBezTo>
                    <a:pt x="22128480" y="1084707"/>
                    <a:pt x="22079331" y="1133856"/>
                    <a:pt x="22018752" y="1133856"/>
                  </a:cubicBezTo>
                  <a:lnTo>
                    <a:pt x="109728" y="1133856"/>
                  </a:lnTo>
                  <a:cubicBezTo>
                    <a:pt x="49149" y="1133856"/>
                    <a:pt x="0" y="1084707"/>
                    <a:pt x="0" y="1024128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65860" y="6624828"/>
            <a:ext cx="4800600" cy="850392"/>
            <a:chOff x="0" y="0"/>
            <a:chExt cx="6400800" cy="11338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008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96" r="0" b="-5999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64008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76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covariance_weighted_fusion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172200" y="6624828"/>
            <a:ext cx="10972800" cy="850392"/>
            <a:chOff x="0" y="0"/>
            <a:chExt cx="14630400" cy="11338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630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19" r="0" b="-20141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46304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Information-filter (inverse-covariance) fusion; optimal only under independent source errors.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2960" y="7612380"/>
            <a:ext cx="16596360" cy="850392"/>
            <a:chOff x="0" y="0"/>
            <a:chExt cx="22128480" cy="11338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1284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28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2018752" y="0"/>
                  </a:lnTo>
                  <a:cubicBezTo>
                    <a:pt x="22079331" y="0"/>
                    <a:pt x="22128480" y="49149"/>
                    <a:pt x="22128480" y="109728"/>
                  </a:cubicBezTo>
                  <a:lnTo>
                    <a:pt x="22128480" y="1024128"/>
                  </a:lnTo>
                  <a:cubicBezTo>
                    <a:pt x="22128480" y="1084707"/>
                    <a:pt x="22079331" y="1133856"/>
                    <a:pt x="22018752" y="1133856"/>
                  </a:cubicBezTo>
                  <a:lnTo>
                    <a:pt x="109728" y="1133856"/>
                  </a:lnTo>
                  <a:cubicBezTo>
                    <a:pt x="49149" y="1133856"/>
                    <a:pt x="0" y="1084707"/>
                    <a:pt x="0" y="10241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65860" y="7612380"/>
            <a:ext cx="4800600" cy="850392"/>
            <a:chOff x="0" y="0"/>
            <a:chExt cx="6400800" cy="11338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4008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96" r="0" b="-5999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4008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76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covariance_intersection_fusion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172200" y="7612380"/>
            <a:ext cx="10972800" cy="850392"/>
            <a:chOff x="0" y="0"/>
            <a:chExt cx="14630400" cy="113385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630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19" r="0" b="-20141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46304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Covariance Intersection — consistent even when source errors are correlated in an unknown way.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8983980"/>
            <a:ext cx="16596360" cy="685800"/>
            <a:chOff x="0" y="0"/>
            <a:chExt cx="22128480" cy="914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7" r="0" b="-42153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21284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5B628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Fusion never reads ground truth — every weight comes from a track's own confidence, status, covariance, staleness, and static config-known sensor characteristics.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7323308" y="9669780"/>
            <a:ext cx="548640" cy="411480"/>
            <a:chOff x="0" y="0"/>
            <a:chExt cx="73152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Radar-Fusion UAV Swarm Simulation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FUSION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Centralized vs. distributed fusion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74620"/>
            <a:ext cx="7955280" cy="548640"/>
            <a:chOff x="0" y="0"/>
            <a:chExt cx="1060704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6070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Centralized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3223260"/>
            <a:ext cx="7955280" cy="1371600"/>
            <a:chOff x="0" y="0"/>
            <a:chExt cx="1060704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070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060704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UAV's track goes to one central node, which clusters + fuses once and broadcasts a single shared result — at the cost of an uplink-then-downlink round trip before anything is usable.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89720" y="2674620"/>
            <a:ext cx="7955280" cy="548640"/>
            <a:chOff x="0" y="0"/>
            <a:chExt cx="1060704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06070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Distributed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89720" y="3223260"/>
            <a:ext cx="7955280" cy="1371600"/>
            <a:chOff x="0" y="0"/>
            <a:chExt cx="10607040" cy="1828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070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060704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central node; each UAV broadcasts a lightweight summary to peers and fuses locally over its own track plus whatever peer summaries arrived that step. Delivery isn't uniform, so UAVs can hold slightly different local estimates.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4732020"/>
            <a:ext cx="8641080" cy="4800600"/>
            <a:chOff x="0" y="0"/>
            <a:chExt cx="11521440" cy="6400800"/>
          </a:xfrm>
        </p:grpSpPr>
        <p:sp>
          <p:nvSpPr>
            <p:cNvPr name="Freeform 21" id="21" descr="/home/claude/work/assets/centralized_vs_distributed.png"/>
            <p:cNvSpPr/>
            <p:nvPr/>
          </p:nvSpPr>
          <p:spPr>
            <a:xfrm flipH="false" flipV="false" rot="0">
              <a:off x="0" y="0"/>
              <a:ext cx="11521440" cy="6400800"/>
            </a:xfrm>
            <a:custGeom>
              <a:avLst/>
              <a:gdLst/>
              <a:ahLst/>
              <a:cxnLst/>
              <a:rect r="r" b="b" t="t" l="l"/>
              <a:pathLst>
                <a:path h="640080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6400800"/>
                  </a:lnTo>
                  <a:lnTo>
                    <a:pt x="0" y="640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000" r="0" b="-400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738360" y="4732020"/>
            <a:ext cx="7680960" cy="4800600"/>
            <a:chOff x="0" y="0"/>
            <a:chExt cx="10241280" cy="6400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6400800"/>
            </a:xfrm>
            <a:custGeom>
              <a:avLst/>
              <a:gdLst/>
              <a:ahLst/>
              <a:cxnLst/>
              <a:rect r="r" b="b" t="t" l="l"/>
              <a:pathLst>
                <a:path h="6400800" w="102412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094976" y="0"/>
                  </a:lnTo>
                  <a:cubicBezTo>
                    <a:pt x="10175748" y="0"/>
                    <a:pt x="10241280" y="65532"/>
                    <a:pt x="10241280" y="146304"/>
                  </a:cubicBezTo>
                  <a:lnTo>
                    <a:pt x="10241280" y="6254496"/>
                  </a:lnTo>
                  <a:cubicBezTo>
                    <a:pt x="10241280" y="6335268"/>
                    <a:pt x="10175748" y="6400800"/>
                    <a:pt x="10094976" y="6400800"/>
                  </a:cubicBezTo>
                  <a:lnTo>
                    <a:pt x="146304" y="6400800"/>
                  </a:lnTo>
                  <a:cubicBezTo>
                    <a:pt x="65532" y="6400800"/>
                    <a:pt x="0" y="6335268"/>
                    <a:pt x="0" y="6254496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081260" y="5006340"/>
            <a:ext cx="6995160" cy="480060"/>
            <a:chOff x="0" y="0"/>
            <a:chExt cx="932688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326880" cy="640080"/>
            </a:xfrm>
            <a:custGeom>
              <a:avLst/>
              <a:gdLst/>
              <a:ahLst/>
              <a:cxnLst/>
              <a:rect r="r" b="b" t="t" l="l"/>
              <a:pathLst>
                <a:path h="6400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93268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DEPENDABILITY FINDING (40% PACKET LOSS)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172700" y="5642610"/>
            <a:ext cx="6812280" cy="288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3FA77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0.267 m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5B6284"/>
                </a:solidFill>
                <a:latin typeface="Calibri (MS)"/>
                <a:ea typeface="Calibri (MS)"/>
                <a:cs typeface="Calibri (MS)"/>
                <a:sym typeface="Calibri (MS)"/>
              </a:rPr>
              <a:t>distributed mean fused-position error (n=10)</a:t>
            </a:r>
          </a:p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3A436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0.271 m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5B6284"/>
                </a:solidFill>
                <a:latin typeface="Calibri (MS)"/>
                <a:ea typeface="Calibri (MS)"/>
                <a:cs typeface="Calibri (MS)"/>
                <a:sym typeface="Calibri (MS)"/>
              </a:rPr>
              <a:t>centralized mean fused-position error (n=10)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081260" y="8572500"/>
            <a:ext cx="6995160" cy="822960"/>
            <a:chOff x="0" y="0"/>
            <a:chExt cx="932688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326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93268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i="true">
                  <a:solidFill>
                    <a:srgbClr val="5B628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Distributed fusion held up marginally better under heavy packet loss for this metric — a small, single-scenario result, not a general claim.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323308" y="9669780"/>
            <a:ext cx="548640" cy="411480"/>
            <a:chOff x="0" y="0"/>
            <a:chExt cx="73152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Radar-Fusion UAV Swarm Simulation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LINK MODEL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Communication uncertainty: CommunicationChannel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2682240"/>
            <a:ext cx="475488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E2761"/>
                </a:solidFill>
                <a:latin typeface="Consolas Bold"/>
                <a:ea typeface="Consolas Bold"/>
                <a:cs typeface="Consolas Bold"/>
                <a:sym typeface="Consolas Bold"/>
              </a:rPr>
              <a:t>packet_loss_probability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89320" y="2672715"/>
            <a:ext cx="1133856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725">
                <a:solidFill>
                  <a:srgbClr val="1B1F30"/>
                </a:solidFill>
                <a:latin typeface="Calibri (MS)"/>
                <a:ea typeface="Calibri (MS)"/>
                <a:cs typeface="Calibri (MS)"/>
                <a:sym typeface="Calibri (MS)"/>
              </a:rPr>
              <a:t>Per-message chance of outright loss.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3532632"/>
            <a:ext cx="475488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E2761"/>
                </a:solidFill>
                <a:latin typeface="Consolas Bold"/>
                <a:ea typeface="Consolas Bold"/>
                <a:cs typeface="Consolas Bold"/>
                <a:sym typeface="Consolas Bold"/>
              </a:rPr>
              <a:t>comm_range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89320" y="3523107"/>
            <a:ext cx="1133856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725">
                <a:solidFill>
                  <a:srgbClr val="1B1F30"/>
                </a:solidFill>
                <a:latin typeface="Calibri (MS)"/>
                <a:ea typeface="Calibri (MS)"/>
                <a:cs typeface="Calibri (MS)"/>
                <a:sym typeface="Calibri (MS)"/>
              </a:rPr>
              <a:t>Maximum distance a message can travel; out-of-range pairs simply can't hear each other.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4383024"/>
            <a:ext cx="475488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E2761"/>
                </a:solidFill>
                <a:latin typeface="Consolas Bold"/>
                <a:ea typeface="Consolas Bold"/>
                <a:cs typeface="Consolas Bold"/>
                <a:sym typeface="Consolas Bold"/>
              </a:rPr>
              <a:t>base_latency_steps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89320" y="4373499"/>
            <a:ext cx="1133856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725">
                <a:solidFill>
                  <a:srgbClr val="1B1F30"/>
                </a:solidFill>
                <a:latin typeface="Calibri (MS)"/>
                <a:ea typeface="Calibri (MS)"/>
                <a:cs typeface="Calibri (MS)"/>
                <a:sym typeface="Calibri (MS)"/>
              </a:rPr>
              <a:t>Fixed delay added on top of the sender's own sensor latency.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5233416"/>
            <a:ext cx="475488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E2761"/>
                </a:solidFill>
                <a:latin typeface="Consolas Bold"/>
                <a:ea typeface="Consolas Bold"/>
                <a:cs typeface="Consolas Bold"/>
                <a:sym typeface="Consolas Bold"/>
              </a:rPr>
              <a:t>max_staleness_steps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89320" y="5223891"/>
            <a:ext cx="1133856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725">
                <a:solidFill>
                  <a:srgbClr val="1B1F30"/>
                </a:solidFill>
                <a:latin typeface="Calibri (MS)"/>
                <a:ea typeface="Calibri (MS)"/>
                <a:cs typeface="Calibri (MS)"/>
                <a:sym typeface="Calibri (MS)"/>
              </a:rPr>
              <a:t>A message older than this (by measurement age) is rejected outright, regardless of delivery.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6083808"/>
            <a:ext cx="475488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E2761"/>
                </a:solidFill>
                <a:latin typeface="Consolas Bold"/>
                <a:ea typeface="Consolas Bold"/>
                <a:cs typeface="Consolas Bold"/>
                <a:sym typeface="Consolas Bold"/>
              </a:rPr>
              <a:t>corruption_probability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89320" y="6074283"/>
            <a:ext cx="1133856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725">
                <a:solidFill>
                  <a:srgbClr val="1B1F30"/>
                </a:solidFill>
                <a:latin typeface="Calibri (MS)"/>
                <a:ea typeface="Calibri (MS)"/>
                <a:cs typeface="Calibri (MS)"/>
                <a:sym typeface="Calibri (MS)"/>
              </a:rPr>
              <a:t>Per-message chance the confidence/reliability value arrives scaled by a random factor — modeling bit errors, not loss.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22960" y="7063740"/>
            <a:ext cx="16596360" cy="2400300"/>
            <a:chOff x="0" y="0"/>
            <a:chExt cx="22128480" cy="3200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28480" cy="3200400"/>
            </a:xfrm>
            <a:custGeom>
              <a:avLst/>
              <a:gdLst/>
              <a:ahLst/>
              <a:cxnLst/>
              <a:rect r="r" b="b" t="t" l="l"/>
              <a:pathLst>
                <a:path h="320040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3054096"/>
                  </a:lnTo>
                  <a:cubicBezTo>
                    <a:pt x="22128480" y="3134868"/>
                    <a:pt x="22062948" y="3200400"/>
                    <a:pt x="21982176" y="3200400"/>
                  </a:cubicBezTo>
                  <a:lnTo>
                    <a:pt x="146304" y="3200400"/>
                  </a:lnTo>
                  <a:cubicBezTo>
                    <a:pt x="65532" y="3200400"/>
                    <a:pt x="0" y="3134868"/>
                    <a:pt x="0" y="3054096"/>
                  </a:cubicBezTo>
                  <a:close/>
                </a:path>
              </a:pathLst>
            </a:custGeom>
            <a:solidFill>
              <a:srgbClr val="FDF3E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34440" y="7406640"/>
            <a:ext cx="192024" cy="192024"/>
            <a:chOff x="0" y="0"/>
            <a:chExt cx="256032" cy="2560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45920" y="7296912"/>
            <a:ext cx="10972800" cy="480060"/>
            <a:chOff x="0" y="0"/>
            <a:chExt cx="1463040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Verified Communication Degradation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34440" y="7790688"/>
            <a:ext cx="15773400" cy="1577340"/>
            <a:chOff x="0" y="0"/>
            <a:chExt cx="21031200" cy="2103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0312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21031200" cy="2169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8"/>
                </a:lnSpc>
              </a:pPr>
              <a:r>
                <a:rPr lang="en-US" sz="172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Six dedicated scenarios were built to sweep the channel model — perfect communication, low/high packet loss, short range, delayed sharing, full outage. The data correctly demonstrates the impact of these variables, such as fused sources dropping significantly under high packet loss.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7323308" y="9669780"/>
            <a:ext cx="548640" cy="411480"/>
            <a:chOff x="0" y="0"/>
            <a:chExt cx="73152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Radar-Fusion UAV Swarm Simulation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TRUST LAYER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Dynamic trust vs. static, self-reported trust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06040"/>
            <a:ext cx="16596360" cy="891540"/>
            <a:chOff x="0" y="0"/>
            <a:chExt cx="22128480" cy="1188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721" r="0" b="-31272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2128480" cy="1255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TrustTracker adds a slow-moving persistent_trust score per UAV that accumulates across steps — decaying on repeated disagreement, dropout, or staleness; recovering (more slowly) as the source re-agrees with its cluster.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3771900"/>
            <a:ext cx="7680960" cy="685800"/>
            <a:chOff x="0" y="0"/>
            <a:chExt cx="1024128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0" cy="914400"/>
            </a:xfrm>
            <a:custGeom>
              <a:avLst/>
              <a:gdLst/>
              <a:ahLst/>
              <a:cxnLst/>
              <a:rect r="r" b="b" t="t" l="l"/>
              <a:pathLst>
                <a:path h="9144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60120" y="3771900"/>
            <a:ext cx="7406640" cy="685800"/>
            <a:chOff x="0" y="0"/>
            <a:chExt cx="987552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875520" cy="914400"/>
            </a:xfrm>
            <a:custGeom>
              <a:avLst/>
              <a:gdLst/>
              <a:ahLst/>
              <a:cxnLst/>
              <a:rect r="r" b="b" t="t" l="l"/>
              <a:pathLst>
                <a:path h="91440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987552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Fusion mode (faulty sensor present)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641080" y="3771900"/>
            <a:ext cx="2880360" cy="685800"/>
            <a:chOff x="0" y="0"/>
            <a:chExt cx="384048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40480" cy="914400"/>
            </a:xfrm>
            <a:custGeom>
              <a:avLst/>
              <a:gdLst/>
              <a:ahLst/>
              <a:cxnLst/>
              <a:rect r="r" b="b" t="t" l="l"/>
              <a:pathLst>
                <a:path h="91440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778240" y="3771900"/>
            <a:ext cx="2606040" cy="685800"/>
            <a:chOff x="0" y="0"/>
            <a:chExt cx="347472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74720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47472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Mission success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658600" y="3771900"/>
            <a:ext cx="2743200" cy="685800"/>
            <a:chOff x="0" y="0"/>
            <a:chExt cx="36576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795760" y="3771900"/>
            <a:ext cx="2468880" cy="685800"/>
            <a:chOff x="0" y="0"/>
            <a:chExt cx="329184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91840" cy="914400"/>
            </a:xfrm>
            <a:custGeom>
              <a:avLst/>
              <a:gdLst/>
              <a:ahLst/>
              <a:cxnLst/>
              <a:rect r="r" b="b" t="t" l="l"/>
              <a:pathLst>
                <a:path h="9144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329184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Collisions (mean)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538960" y="3771900"/>
            <a:ext cx="2606040" cy="685800"/>
            <a:chOff x="0" y="0"/>
            <a:chExt cx="347472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74720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4676120" y="3771900"/>
            <a:ext cx="2331720" cy="685800"/>
            <a:chOff x="0" y="0"/>
            <a:chExt cx="310896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108960" cy="914400"/>
            </a:xfrm>
            <a:custGeom>
              <a:avLst/>
              <a:gdLst/>
              <a:ahLst/>
              <a:cxnLst/>
              <a:rect r="r" b="b" t="t" l="l"/>
              <a:pathLst>
                <a:path h="9144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10896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Position RMSE (m)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4457700"/>
            <a:ext cx="7680960" cy="630936"/>
            <a:chOff x="0" y="0"/>
            <a:chExt cx="10241280" cy="8412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41280" cy="841248"/>
            </a:xfrm>
            <a:custGeom>
              <a:avLst/>
              <a:gdLst/>
              <a:ahLst/>
              <a:cxnLst/>
              <a:rect r="r" b="b" t="t" l="l"/>
              <a:pathLst>
                <a:path h="8412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0120" y="4457700"/>
            <a:ext cx="7406640" cy="630936"/>
            <a:chOff x="0" y="0"/>
            <a:chExt cx="9875520" cy="84124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875520" cy="841248"/>
            </a:xfrm>
            <a:custGeom>
              <a:avLst/>
              <a:gdLst/>
              <a:ahLst/>
              <a:cxnLst/>
              <a:rect r="r" b="b" t="t" l="l"/>
              <a:pathLst>
                <a:path h="841248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737" r="0" b="-17873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987552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B1F3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naive_fusion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641080" y="4457700"/>
            <a:ext cx="2880360" cy="630936"/>
            <a:chOff x="0" y="0"/>
            <a:chExt cx="3840480" cy="8412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840480" cy="841248"/>
            </a:xfrm>
            <a:custGeom>
              <a:avLst/>
              <a:gdLst/>
              <a:ahLst/>
              <a:cxnLst/>
              <a:rect r="r" b="b" t="t" l="l"/>
              <a:pathLst>
                <a:path h="841248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778240" y="4457700"/>
            <a:ext cx="2606040" cy="630936"/>
            <a:chOff x="0" y="0"/>
            <a:chExt cx="3474720" cy="8412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74720" cy="841248"/>
            </a:xfrm>
            <a:custGeom>
              <a:avLst/>
              <a:gdLst/>
              <a:ahLst/>
              <a:cxnLst/>
              <a:rect r="r" b="b" t="t" l="l"/>
              <a:pathLst>
                <a:path h="84124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81" r="0" b="-3048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347472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0.90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658600" y="4457700"/>
            <a:ext cx="2743200" cy="630936"/>
            <a:chOff x="0" y="0"/>
            <a:chExt cx="3657600" cy="8412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657600" cy="841248"/>
            </a:xfrm>
            <a:custGeom>
              <a:avLst/>
              <a:gdLst/>
              <a:ahLst/>
              <a:cxnLst/>
              <a:rect r="r" b="b" t="t" l="l"/>
              <a:pathLst>
                <a:path h="84124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795760" y="4457700"/>
            <a:ext cx="2468880" cy="630936"/>
            <a:chOff x="0" y="0"/>
            <a:chExt cx="3291840" cy="8412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291840" cy="841248"/>
            </a:xfrm>
            <a:custGeom>
              <a:avLst/>
              <a:gdLst/>
              <a:ahLst/>
              <a:cxnLst/>
              <a:rect r="r" b="b" t="t" l="l"/>
              <a:pathLst>
                <a:path h="84124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45" r="0" b="-2624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329184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0.30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538960" y="4457700"/>
            <a:ext cx="2606040" cy="630936"/>
            <a:chOff x="0" y="0"/>
            <a:chExt cx="3474720" cy="84124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474720" cy="841248"/>
            </a:xfrm>
            <a:custGeom>
              <a:avLst/>
              <a:gdLst/>
              <a:ahLst/>
              <a:cxnLst/>
              <a:rect r="r" b="b" t="t" l="l"/>
              <a:pathLst>
                <a:path h="84124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676120" y="4457700"/>
            <a:ext cx="2331720" cy="630936"/>
            <a:chOff x="0" y="0"/>
            <a:chExt cx="3108960" cy="84124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08960" cy="841248"/>
            </a:xfrm>
            <a:custGeom>
              <a:avLst/>
              <a:gdLst/>
              <a:ahLst/>
              <a:cxnLst/>
              <a:rect r="r" b="b" t="t" l="l"/>
              <a:pathLst>
                <a:path h="841248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09" r="0" b="-2200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310896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1.83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22960" y="5088636"/>
            <a:ext cx="7680960" cy="630936"/>
            <a:chOff x="0" y="0"/>
            <a:chExt cx="10241280" cy="8412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241280" cy="841248"/>
            </a:xfrm>
            <a:custGeom>
              <a:avLst/>
              <a:gdLst/>
              <a:ahLst/>
              <a:cxnLst/>
              <a:rect r="r" b="b" t="t" l="l"/>
              <a:pathLst>
                <a:path h="8412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60120" y="5088636"/>
            <a:ext cx="7406640" cy="630936"/>
            <a:chOff x="0" y="0"/>
            <a:chExt cx="9875520" cy="8412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875520" cy="841248"/>
            </a:xfrm>
            <a:custGeom>
              <a:avLst/>
              <a:gdLst/>
              <a:ahLst/>
              <a:cxnLst/>
              <a:rect r="r" b="b" t="t" l="l"/>
              <a:pathLst>
                <a:path h="841248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737" r="0" b="-17873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987552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B1F3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confidence_weighted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641080" y="5088636"/>
            <a:ext cx="2880360" cy="630936"/>
            <a:chOff x="0" y="0"/>
            <a:chExt cx="3840480" cy="84124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840480" cy="841248"/>
            </a:xfrm>
            <a:custGeom>
              <a:avLst/>
              <a:gdLst/>
              <a:ahLst/>
              <a:cxnLst/>
              <a:rect r="r" b="b" t="t" l="l"/>
              <a:pathLst>
                <a:path h="841248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778240" y="5088636"/>
            <a:ext cx="2606040" cy="630936"/>
            <a:chOff x="0" y="0"/>
            <a:chExt cx="3474720" cy="84124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474720" cy="841248"/>
            </a:xfrm>
            <a:custGeom>
              <a:avLst/>
              <a:gdLst/>
              <a:ahLst/>
              <a:cxnLst/>
              <a:rect r="r" b="b" t="t" l="l"/>
              <a:pathLst>
                <a:path h="84124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81" r="0" b="-3048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347472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0.90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658600" y="5088636"/>
            <a:ext cx="2743200" cy="630936"/>
            <a:chOff x="0" y="0"/>
            <a:chExt cx="3657600" cy="84124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657600" cy="841248"/>
            </a:xfrm>
            <a:custGeom>
              <a:avLst/>
              <a:gdLst/>
              <a:ahLst/>
              <a:cxnLst/>
              <a:rect r="r" b="b" t="t" l="l"/>
              <a:pathLst>
                <a:path h="84124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795760" y="5088636"/>
            <a:ext cx="2468880" cy="630936"/>
            <a:chOff x="0" y="0"/>
            <a:chExt cx="3291840" cy="84124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291840" cy="841248"/>
            </a:xfrm>
            <a:custGeom>
              <a:avLst/>
              <a:gdLst/>
              <a:ahLst/>
              <a:cxnLst/>
              <a:rect r="r" b="b" t="t" l="l"/>
              <a:pathLst>
                <a:path h="84124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45" r="0" b="-2624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329184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0.65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538960" y="5088636"/>
            <a:ext cx="2606040" cy="630936"/>
            <a:chOff x="0" y="0"/>
            <a:chExt cx="3474720" cy="84124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474720" cy="841248"/>
            </a:xfrm>
            <a:custGeom>
              <a:avLst/>
              <a:gdLst/>
              <a:ahLst/>
              <a:cxnLst/>
              <a:rect r="r" b="b" t="t" l="l"/>
              <a:pathLst>
                <a:path h="84124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676120" y="5088636"/>
            <a:ext cx="2331720" cy="630936"/>
            <a:chOff x="0" y="0"/>
            <a:chExt cx="3108960" cy="84124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108960" cy="841248"/>
            </a:xfrm>
            <a:custGeom>
              <a:avLst/>
              <a:gdLst/>
              <a:ahLst/>
              <a:cxnLst/>
              <a:rect r="r" b="b" t="t" l="l"/>
              <a:pathLst>
                <a:path h="841248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09" r="0" b="-2200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310896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1.81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22960" y="5719572"/>
            <a:ext cx="7680960" cy="630936"/>
            <a:chOff x="0" y="0"/>
            <a:chExt cx="10241280" cy="84124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241280" cy="841248"/>
            </a:xfrm>
            <a:custGeom>
              <a:avLst/>
              <a:gdLst/>
              <a:ahLst/>
              <a:cxnLst/>
              <a:rect r="r" b="b" t="t" l="l"/>
              <a:pathLst>
                <a:path h="8412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60120" y="5719572"/>
            <a:ext cx="7406640" cy="630936"/>
            <a:chOff x="0" y="0"/>
            <a:chExt cx="9875520" cy="84124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875520" cy="841248"/>
            </a:xfrm>
            <a:custGeom>
              <a:avLst/>
              <a:gdLst/>
              <a:ahLst/>
              <a:cxnLst/>
              <a:rect r="r" b="b" t="t" l="l"/>
              <a:pathLst>
                <a:path h="841248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737" r="0" b="-178737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987552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B1F3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trust_weighted (fixed)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8641080" y="5719572"/>
            <a:ext cx="2880360" cy="630936"/>
            <a:chOff x="0" y="0"/>
            <a:chExt cx="3840480" cy="84124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840480" cy="841248"/>
            </a:xfrm>
            <a:custGeom>
              <a:avLst/>
              <a:gdLst/>
              <a:ahLst/>
              <a:cxnLst/>
              <a:rect r="r" b="b" t="t" l="l"/>
              <a:pathLst>
                <a:path h="841248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8778240" y="5719572"/>
            <a:ext cx="2606040" cy="630936"/>
            <a:chOff x="0" y="0"/>
            <a:chExt cx="3474720" cy="84124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474720" cy="841248"/>
            </a:xfrm>
            <a:custGeom>
              <a:avLst/>
              <a:gdLst/>
              <a:ahLst/>
              <a:cxnLst/>
              <a:rect r="r" b="b" t="t" l="l"/>
              <a:pathLst>
                <a:path h="84124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81" r="0" b="-30481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347472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0.80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1658600" y="5719572"/>
            <a:ext cx="2743200" cy="630936"/>
            <a:chOff x="0" y="0"/>
            <a:chExt cx="3657600" cy="84124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657600" cy="841248"/>
            </a:xfrm>
            <a:custGeom>
              <a:avLst/>
              <a:gdLst/>
              <a:ahLst/>
              <a:cxnLst/>
              <a:rect r="r" b="b" t="t" l="l"/>
              <a:pathLst>
                <a:path h="84124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1795760" y="5719572"/>
            <a:ext cx="2468880" cy="630936"/>
            <a:chOff x="0" y="0"/>
            <a:chExt cx="3291840" cy="84124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291840" cy="841248"/>
            </a:xfrm>
            <a:custGeom>
              <a:avLst/>
              <a:gdLst/>
              <a:ahLst/>
              <a:cxnLst/>
              <a:rect r="r" b="b" t="t" l="l"/>
              <a:pathLst>
                <a:path h="84124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45" r="0" b="-2624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329184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0.80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4538960" y="5719572"/>
            <a:ext cx="2606040" cy="630936"/>
            <a:chOff x="0" y="0"/>
            <a:chExt cx="3474720" cy="84124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474720" cy="841248"/>
            </a:xfrm>
            <a:custGeom>
              <a:avLst/>
              <a:gdLst/>
              <a:ahLst/>
              <a:cxnLst/>
              <a:rect r="r" b="b" t="t" l="l"/>
              <a:pathLst>
                <a:path h="84124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4676120" y="5719572"/>
            <a:ext cx="2331720" cy="630936"/>
            <a:chOff x="0" y="0"/>
            <a:chExt cx="3108960" cy="84124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108960" cy="841248"/>
            </a:xfrm>
            <a:custGeom>
              <a:avLst/>
              <a:gdLst/>
              <a:ahLst/>
              <a:cxnLst/>
              <a:rect r="r" b="b" t="t" l="l"/>
              <a:pathLst>
                <a:path h="841248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09" r="0" b="-22009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310896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1.81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822960" y="6350508"/>
            <a:ext cx="7680960" cy="630936"/>
            <a:chOff x="0" y="0"/>
            <a:chExt cx="10241280" cy="84124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241280" cy="841248"/>
            </a:xfrm>
            <a:custGeom>
              <a:avLst/>
              <a:gdLst/>
              <a:ahLst/>
              <a:cxnLst/>
              <a:rect r="r" b="b" t="t" l="l"/>
              <a:pathLst>
                <a:path h="8412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960120" y="6350508"/>
            <a:ext cx="7406640" cy="630936"/>
            <a:chOff x="0" y="0"/>
            <a:chExt cx="9875520" cy="84124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875520" cy="841248"/>
            </a:xfrm>
            <a:custGeom>
              <a:avLst/>
              <a:gdLst/>
              <a:ahLst/>
              <a:cxnLst/>
              <a:rect r="r" b="b" t="t" l="l"/>
              <a:pathLst>
                <a:path h="841248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737" r="0" b="-178737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987552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B1F3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trust_weighted (dynamic)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8641080" y="6350508"/>
            <a:ext cx="2880360" cy="630936"/>
            <a:chOff x="0" y="0"/>
            <a:chExt cx="3840480" cy="84124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840480" cy="841248"/>
            </a:xfrm>
            <a:custGeom>
              <a:avLst/>
              <a:gdLst/>
              <a:ahLst/>
              <a:cxnLst/>
              <a:rect r="r" b="b" t="t" l="l"/>
              <a:pathLst>
                <a:path h="841248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8778240" y="6350508"/>
            <a:ext cx="2606040" cy="630936"/>
            <a:chOff x="0" y="0"/>
            <a:chExt cx="3474720" cy="84124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474720" cy="841248"/>
            </a:xfrm>
            <a:custGeom>
              <a:avLst/>
              <a:gdLst/>
              <a:ahLst/>
              <a:cxnLst/>
              <a:rect r="r" b="b" t="t" l="l"/>
              <a:pathLst>
                <a:path h="84124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81" r="0" b="-30481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28575"/>
              <a:ext cx="347472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0.80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1658600" y="6350508"/>
            <a:ext cx="2743200" cy="630936"/>
            <a:chOff x="0" y="0"/>
            <a:chExt cx="3657600" cy="84124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657600" cy="841248"/>
            </a:xfrm>
            <a:custGeom>
              <a:avLst/>
              <a:gdLst/>
              <a:ahLst/>
              <a:cxnLst/>
              <a:rect r="r" b="b" t="t" l="l"/>
              <a:pathLst>
                <a:path h="84124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1795760" y="6350508"/>
            <a:ext cx="2468880" cy="630936"/>
            <a:chOff x="0" y="0"/>
            <a:chExt cx="3291840" cy="84124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291840" cy="841248"/>
            </a:xfrm>
            <a:custGeom>
              <a:avLst/>
              <a:gdLst/>
              <a:ahLst/>
              <a:cxnLst/>
              <a:rect r="r" b="b" t="t" l="l"/>
              <a:pathLst>
                <a:path h="84124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45" r="0" b="-26245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28575"/>
              <a:ext cx="329184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1.20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4538960" y="6350508"/>
            <a:ext cx="2606040" cy="630936"/>
            <a:chOff x="0" y="0"/>
            <a:chExt cx="3474720" cy="84124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474720" cy="841248"/>
            </a:xfrm>
            <a:custGeom>
              <a:avLst/>
              <a:gdLst/>
              <a:ahLst/>
              <a:cxnLst/>
              <a:rect r="r" b="b" t="t" l="l"/>
              <a:pathLst>
                <a:path h="84124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4676120" y="6350508"/>
            <a:ext cx="2331720" cy="630936"/>
            <a:chOff x="0" y="0"/>
            <a:chExt cx="3108960" cy="84124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108960" cy="841248"/>
            </a:xfrm>
            <a:custGeom>
              <a:avLst/>
              <a:gdLst/>
              <a:ahLst/>
              <a:cxnLst/>
              <a:rect r="r" b="b" t="t" l="l"/>
              <a:pathLst>
                <a:path h="841248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09" r="0" b="-22009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28575"/>
              <a:ext cx="310896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1.80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822960" y="6981444"/>
            <a:ext cx="7680960" cy="630936"/>
            <a:chOff x="0" y="0"/>
            <a:chExt cx="10241280" cy="841248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0241280" cy="841248"/>
            </a:xfrm>
            <a:custGeom>
              <a:avLst/>
              <a:gdLst/>
              <a:ahLst/>
              <a:cxnLst/>
              <a:rect r="r" b="b" t="t" l="l"/>
              <a:pathLst>
                <a:path h="8412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60120" y="6981444"/>
            <a:ext cx="7406640" cy="630936"/>
            <a:chOff x="0" y="0"/>
            <a:chExt cx="9875520" cy="84124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9875520" cy="841248"/>
            </a:xfrm>
            <a:custGeom>
              <a:avLst/>
              <a:gdLst/>
              <a:ahLst/>
              <a:cxnLst/>
              <a:rect r="r" b="b" t="t" l="l"/>
              <a:pathLst>
                <a:path h="841248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737" r="0" b="-178737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28575"/>
              <a:ext cx="987552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B1F3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covariance_weighted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8641080" y="6981444"/>
            <a:ext cx="2880360" cy="630936"/>
            <a:chOff x="0" y="0"/>
            <a:chExt cx="3840480" cy="84124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840480" cy="841248"/>
            </a:xfrm>
            <a:custGeom>
              <a:avLst/>
              <a:gdLst/>
              <a:ahLst/>
              <a:cxnLst/>
              <a:rect r="r" b="b" t="t" l="l"/>
              <a:pathLst>
                <a:path h="841248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8778240" y="6981444"/>
            <a:ext cx="2606040" cy="630936"/>
            <a:chOff x="0" y="0"/>
            <a:chExt cx="3474720" cy="84124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474720" cy="841248"/>
            </a:xfrm>
            <a:custGeom>
              <a:avLst/>
              <a:gdLst/>
              <a:ahLst/>
              <a:cxnLst/>
              <a:rect r="r" b="b" t="t" l="l"/>
              <a:pathLst>
                <a:path h="84124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81" r="0" b="-30481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28575"/>
              <a:ext cx="347472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0.80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1658600" y="6981444"/>
            <a:ext cx="2743200" cy="630936"/>
            <a:chOff x="0" y="0"/>
            <a:chExt cx="3657600" cy="841248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657600" cy="841248"/>
            </a:xfrm>
            <a:custGeom>
              <a:avLst/>
              <a:gdLst/>
              <a:ahLst/>
              <a:cxnLst/>
              <a:rect r="r" b="b" t="t" l="l"/>
              <a:pathLst>
                <a:path h="84124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1795760" y="6981444"/>
            <a:ext cx="2468880" cy="630936"/>
            <a:chOff x="0" y="0"/>
            <a:chExt cx="3291840" cy="841248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291840" cy="841248"/>
            </a:xfrm>
            <a:custGeom>
              <a:avLst/>
              <a:gdLst/>
              <a:ahLst/>
              <a:cxnLst/>
              <a:rect r="r" b="b" t="t" l="l"/>
              <a:pathLst>
                <a:path h="84124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45" r="0" b="-26245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28575"/>
              <a:ext cx="329184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0.95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4538960" y="6981444"/>
            <a:ext cx="2606040" cy="630936"/>
            <a:chOff x="0" y="0"/>
            <a:chExt cx="3474720" cy="84124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3474720" cy="841248"/>
            </a:xfrm>
            <a:custGeom>
              <a:avLst/>
              <a:gdLst/>
              <a:ahLst/>
              <a:cxnLst/>
              <a:rect r="r" b="b" t="t" l="l"/>
              <a:pathLst>
                <a:path h="84124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4676120" y="6981444"/>
            <a:ext cx="2331720" cy="630936"/>
            <a:chOff x="0" y="0"/>
            <a:chExt cx="3108960" cy="84124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108960" cy="841248"/>
            </a:xfrm>
            <a:custGeom>
              <a:avLst/>
              <a:gdLst/>
              <a:ahLst/>
              <a:cxnLst/>
              <a:rect r="r" b="b" t="t" l="l"/>
              <a:pathLst>
                <a:path h="841248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09" r="0" b="-22009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28575"/>
              <a:ext cx="310896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1.83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822960" y="7886700"/>
            <a:ext cx="16596360" cy="1371600"/>
            <a:chOff x="0" y="0"/>
            <a:chExt cx="22128480" cy="18288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2128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768" r="0" b="-185768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66675"/>
              <a:ext cx="2212848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 i="true">
                  <a:solidFill>
                    <a:srgbClr val="5B628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None of these pairwise differences reached significance at N=20 (Welch's t-test, all p &gt; 0.11). Dynamic trust did not outperform fixed trust here — its collision mean was numerically higher, and a separate dependability comparison found fixed trust marginally lower fused-position error (1.947 m vs 1.952 m) on the same overconfident-sensor scenario.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7323308" y="9669780"/>
            <a:ext cx="548640" cy="411480"/>
            <a:chOff x="0" y="0"/>
            <a:chExt cx="731520" cy="54864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Radar-Fusion UAV Swarm Simulation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E8A3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62 scenarios × 20 trials = 1,240 Monte-Carlo runs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74620"/>
            <a:ext cx="3909060" cy="1851660"/>
            <a:chOff x="0" y="0"/>
            <a:chExt cx="5212080" cy="2468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120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2322576"/>
                  </a:lnTo>
                  <a:cubicBezTo>
                    <a:pt x="5212080" y="2403348"/>
                    <a:pt x="5146548" y="2468880"/>
                    <a:pt x="50657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27306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770632"/>
            <a:ext cx="3909060" cy="1028700"/>
            <a:chOff x="0" y="0"/>
            <a:chExt cx="5212080" cy="137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120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21208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E8A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3771900"/>
            <a:ext cx="3909060" cy="617220"/>
            <a:chOff x="0" y="0"/>
            <a:chExt cx="5212080" cy="822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12080" cy="822960"/>
            </a:xfrm>
            <a:custGeom>
              <a:avLst/>
              <a:gdLst/>
              <a:ahLst/>
              <a:cxnLst/>
              <a:rect r="r" b="b" t="t" l="l"/>
              <a:pathLst>
                <a:path h="8229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21208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scenarios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006340" y="2674620"/>
            <a:ext cx="3909060" cy="1851660"/>
            <a:chOff x="0" y="0"/>
            <a:chExt cx="5212080" cy="24688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120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2322576"/>
                  </a:lnTo>
                  <a:cubicBezTo>
                    <a:pt x="5212080" y="2403348"/>
                    <a:pt x="5146548" y="2468880"/>
                    <a:pt x="50657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27306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006340" y="2770632"/>
            <a:ext cx="3909060" cy="1028700"/>
            <a:chOff x="0" y="0"/>
            <a:chExt cx="5212080" cy="1371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20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521208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E8A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006340" y="3771900"/>
            <a:ext cx="3909060" cy="617220"/>
            <a:chOff x="0" y="0"/>
            <a:chExt cx="5212080" cy="8229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12080" cy="822960"/>
            </a:xfrm>
            <a:custGeom>
              <a:avLst/>
              <a:gdLst/>
              <a:ahLst/>
              <a:cxnLst/>
              <a:rect r="r" b="b" t="t" l="l"/>
              <a:pathLst>
                <a:path h="8229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21208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trials / scenario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89720" y="2674620"/>
            <a:ext cx="3909060" cy="1851660"/>
            <a:chOff x="0" y="0"/>
            <a:chExt cx="5212080" cy="24688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120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2322576"/>
                  </a:lnTo>
                  <a:cubicBezTo>
                    <a:pt x="5212080" y="2403348"/>
                    <a:pt x="5146548" y="2468880"/>
                    <a:pt x="50657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27306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89720" y="2770632"/>
            <a:ext cx="3909060" cy="1028700"/>
            <a:chOff x="0" y="0"/>
            <a:chExt cx="5212080" cy="1371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120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21208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E8A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1,240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89720" y="3771900"/>
            <a:ext cx="3909060" cy="617220"/>
            <a:chOff x="0" y="0"/>
            <a:chExt cx="5212080" cy="822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12080" cy="822960"/>
            </a:xfrm>
            <a:custGeom>
              <a:avLst/>
              <a:gdLst/>
              <a:ahLst/>
              <a:cxnLst/>
              <a:rect r="r" b="b" t="t" l="l"/>
              <a:pathLst>
                <a:path h="8229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21208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runs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373100" y="2674620"/>
            <a:ext cx="3909060" cy="1851660"/>
            <a:chOff x="0" y="0"/>
            <a:chExt cx="5212080" cy="24688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120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2322576"/>
                  </a:lnTo>
                  <a:cubicBezTo>
                    <a:pt x="5212080" y="2403348"/>
                    <a:pt x="5146548" y="2468880"/>
                    <a:pt x="50657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27306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373100" y="2770632"/>
            <a:ext cx="3909060" cy="1028700"/>
            <a:chOff x="0" y="0"/>
            <a:chExt cx="5212080" cy="1371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120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521208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E8A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18/18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373100" y="3771900"/>
            <a:ext cx="3909060" cy="617220"/>
            <a:chOff x="0" y="0"/>
            <a:chExt cx="5212080" cy="822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212080" cy="822960"/>
            </a:xfrm>
            <a:custGeom>
              <a:avLst/>
              <a:gdLst/>
              <a:ahLst/>
              <a:cxnLst/>
              <a:rect r="r" b="b" t="t" l="l"/>
              <a:pathLst>
                <a:path h="8229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21208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QA checks passed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14400" y="4905375"/>
            <a:ext cx="393192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E8A33D"/>
                </a:solidFill>
                <a:latin typeface="Cambria Bold"/>
                <a:ea typeface="Cambria Bold"/>
                <a:cs typeface="Cambria Bold"/>
                <a:sym typeface="Cambria Bold"/>
              </a:rPr>
              <a:t>World &amp; swarm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234940" y="4867275"/>
            <a:ext cx="12092940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sz="16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100×100 world · 4 UAVs clustered at (5,5)–(15,15) · rally target (90,90) · static obstacle at (50,50), r=5 · speed 2.0 · formation spacing 8.0 · safety distance 2.0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14400" y="6167247"/>
            <a:ext cx="393192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E8A33D"/>
                </a:solidFill>
                <a:latin typeface="Cambria Bold"/>
                <a:ea typeface="Cambria Bold"/>
                <a:cs typeface="Cambria Bold"/>
                <a:sym typeface="Cambria Bold"/>
              </a:rPr>
              <a:t>Time base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234940" y="6129147"/>
            <a:ext cx="12092940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sz="16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dt = 0.2 s · max 600 steps (120 s simulated) · fusion update 5 Hz · master seed 42 with per-trial derived seeds for full reproducibility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14400" y="7429119"/>
            <a:ext cx="393192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E8A33D"/>
                </a:solidFill>
                <a:latin typeface="Cambria Bold"/>
                <a:ea typeface="Cambria Bold"/>
                <a:cs typeface="Cambria Bold"/>
                <a:sym typeface="Cambria Bold"/>
              </a:rPr>
              <a:t>Two-tier trial plan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234940" y="7391019"/>
            <a:ext cx="12092940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sz="16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Every scenario: ≥20 trials by design. A 50-trial bump was planned for fusion-comparison scenarios via a timed warm-up check, but the budget check fell back to 20 for every scenario in this run — the final package is a uniform 20 trials/scenario, not a mix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822960" y="8805672"/>
            <a:ext cx="16596360" cy="754380"/>
            <a:chOff x="0" y="0"/>
            <a:chExt cx="22128480" cy="1005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21284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212848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i="true">
                  <a:solidFill>
                    <a:srgbClr val="8A93C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Every trial records: per-trial seed, exact hashed config, full step-level raw log, PASS/FAIL execution status (kept separate from mission_success), and wall-clock runtime.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7323308" y="9669780"/>
            <a:ext cx="548640" cy="411480"/>
            <a:chOff x="0" y="0"/>
            <a:chExt cx="73152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8A93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Radar-Fusion UAV Swarm Simulation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Main quantitative results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380" y="2537460"/>
            <a:ext cx="8983980" cy="6720840"/>
            <a:chOff x="0" y="0"/>
            <a:chExt cx="11978640" cy="8961120"/>
          </a:xfrm>
        </p:grpSpPr>
        <p:sp>
          <p:nvSpPr>
            <p:cNvPr name="Freeform 9" id="9" descr="/home/claude/work/assets/confidence_intervals_major_results.png"/>
            <p:cNvSpPr/>
            <p:nvPr/>
          </p:nvSpPr>
          <p:spPr>
            <a:xfrm flipH="false" flipV="false" rot="0">
              <a:off x="0" y="0"/>
              <a:ext cx="11978640" cy="8961120"/>
            </a:xfrm>
            <a:custGeom>
              <a:avLst/>
              <a:gdLst/>
              <a:ahLst/>
              <a:cxnLst/>
              <a:rect r="r" b="b" t="t" l="l"/>
              <a:pathLst>
                <a:path h="8961120" w="11978640">
                  <a:moveTo>
                    <a:pt x="0" y="0"/>
                  </a:moveTo>
                  <a:lnTo>
                    <a:pt x="11978640" y="0"/>
                  </a:lnTo>
                  <a:lnTo>
                    <a:pt x="11978640" y="8961120"/>
                  </a:lnTo>
                  <a:lnTo>
                    <a:pt x="0" y="896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340" t="0" r="-1234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081260" y="2537460"/>
            <a:ext cx="7406640" cy="6720840"/>
            <a:chOff x="0" y="0"/>
            <a:chExt cx="9875520" cy="896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75520" cy="8961120"/>
            </a:xfrm>
            <a:custGeom>
              <a:avLst/>
              <a:gdLst/>
              <a:ahLst/>
              <a:cxnLst/>
              <a:rect r="r" b="b" t="t" l="l"/>
              <a:pathLst>
                <a:path h="8961120" w="9875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729216" y="0"/>
                  </a:lnTo>
                  <a:cubicBezTo>
                    <a:pt x="9809988" y="0"/>
                    <a:pt x="9875520" y="65532"/>
                    <a:pt x="9875520" y="146304"/>
                  </a:cubicBezTo>
                  <a:lnTo>
                    <a:pt x="9875520" y="8814816"/>
                  </a:lnTo>
                  <a:cubicBezTo>
                    <a:pt x="9875520" y="8895588"/>
                    <a:pt x="9809988" y="8961120"/>
                    <a:pt x="9729216" y="8961120"/>
                  </a:cubicBezTo>
                  <a:lnTo>
                    <a:pt x="146304" y="8961120"/>
                  </a:lnTo>
                  <a:cubicBezTo>
                    <a:pt x="65532" y="8961120"/>
                    <a:pt x="0" y="8895588"/>
                    <a:pt x="0" y="8814816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424160" y="2811780"/>
            <a:ext cx="6720840" cy="548640"/>
            <a:chOff x="0" y="0"/>
            <a:chExt cx="896112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96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691" r="0" b="-18869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89611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75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SELECTED SIGNIFICANT FINDINGS (p &lt; 0.05, Welch's t)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24160" y="3607308"/>
            <a:ext cx="192024" cy="192024"/>
            <a:chOff x="0" y="0"/>
            <a:chExt cx="256032" cy="2560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835640" y="3497580"/>
            <a:ext cx="6515100" cy="932688"/>
            <a:chOff x="0" y="0"/>
            <a:chExt cx="8686800" cy="12435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868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108" r="0" b="-8610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68680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62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false_positive: worst single-factor perception scenario for position RMSE (Δ = +0.014 m vs baseline, p = 0.0006); sensor_noise is second (Δ = +0.010 m, p = 0.0011)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424160" y="4539996"/>
            <a:ext cx="192024" cy="192024"/>
            <a:chOff x="0" y="0"/>
            <a:chExt cx="256032" cy="2560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835640" y="4430268"/>
            <a:ext cx="6515100" cy="932688"/>
            <a:chOff x="0" y="0"/>
            <a:chExt cx="8686800" cy="12435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868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108" r="0" b="-8610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68680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62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very_low_P_D (P_D=0.1): mission success collapses to 0%, +47.95 mean collisions (p &lt; 0.001)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424160" y="5472684"/>
            <a:ext cx="192024" cy="192024"/>
            <a:chOff x="0" y="0"/>
            <a:chExt cx="256032" cy="2560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835640" y="5362956"/>
            <a:ext cx="6515100" cy="932688"/>
            <a:chOff x="0" y="0"/>
            <a:chExt cx="8686800" cy="124358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6868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108" r="0" b="-8610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68680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62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high_latency (20 steps): +55.85 mean collisions, response time +8.0 s (p &lt; 0.001)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424160" y="6405372"/>
            <a:ext cx="192024" cy="192024"/>
            <a:chOff x="0" y="0"/>
            <a:chExt cx="256032" cy="2560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835640" y="6295644"/>
            <a:ext cx="6515100" cy="932688"/>
            <a:chOff x="0" y="0"/>
            <a:chExt cx="8686800" cy="12435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6868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108" r="0" b="-8610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868680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62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simultaneous_sensor_failures: +154.45 mean collisions, response time +25.0 s (p &lt; 0.001)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424160" y="7338060"/>
            <a:ext cx="192024" cy="192024"/>
            <a:chOff x="0" y="0"/>
            <a:chExt cx="256032" cy="2560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835640" y="7228332"/>
            <a:ext cx="6515100" cy="932688"/>
            <a:chOff x="0" y="0"/>
            <a:chExt cx="8686800" cy="12435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6868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108" r="0" b="-8610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868680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62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Fusion-mode differences (naive vs. trust-weighted vs. no-fusion) on collision risk / mission success: not significant at N=20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424160" y="8270748"/>
            <a:ext cx="192024" cy="192024"/>
            <a:chOff x="0" y="0"/>
            <a:chExt cx="256032" cy="2560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835640" y="8161020"/>
            <a:ext cx="6515100" cy="932688"/>
            <a:chOff x="0" y="0"/>
            <a:chExt cx="8686800" cy="124358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6868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108" r="0" b="-8610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868680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62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 an earlier, separate single-factor sweep (not this 62-scenario package), noise_level correlated most strongly with collision risk (r ≈ 0.954); the final package's sensor_noise scenario shows no measurable collision effect (p = 1.0)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7323308" y="9669780"/>
            <a:ext cx="548640" cy="411480"/>
            <a:chOff x="0" y="0"/>
            <a:chExt cx="73152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Radar-Fusion UAV Swarm Simulation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STRESS TESTS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Where the swarm actually breaks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06040"/>
            <a:ext cx="3977640" cy="1851660"/>
            <a:chOff x="0" y="0"/>
            <a:chExt cx="5303520" cy="2468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35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530352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5175504" y="0"/>
                  </a:lnTo>
                  <a:cubicBezTo>
                    <a:pt x="5246243" y="0"/>
                    <a:pt x="5303520" y="57277"/>
                    <a:pt x="5303520" y="128016"/>
                  </a:cubicBezTo>
                  <a:lnTo>
                    <a:pt x="5303520" y="2340864"/>
                  </a:lnTo>
                  <a:cubicBezTo>
                    <a:pt x="5303520" y="2411603"/>
                    <a:pt x="5246243" y="2468880"/>
                    <a:pt x="5175504" y="2468880"/>
                  </a:cubicBezTo>
                  <a:lnTo>
                    <a:pt x="128016" y="2468880"/>
                  </a:lnTo>
                  <a:cubicBezTo>
                    <a:pt x="57277" y="2468880"/>
                    <a:pt x="0" y="2411603"/>
                    <a:pt x="0" y="2340864"/>
                  </a:cubicBezTo>
                  <a:close/>
                </a:path>
              </a:pathLst>
            </a:custGeom>
            <a:solidFill>
              <a:srgbClr val="C4463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674620"/>
            <a:ext cx="3977640" cy="822960"/>
            <a:chOff x="0" y="0"/>
            <a:chExt cx="530352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03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530352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0%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60120" y="3497580"/>
            <a:ext cx="3703320" cy="411480"/>
            <a:chOff x="0" y="0"/>
            <a:chExt cx="493776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937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very_low_P_D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60120" y="3909060"/>
            <a:ext cx="3703320" cy="411480"/>
            <a:chOff x="0" y="0"/>
            <a:chExt cx="493776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49377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BD9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MSR · 47.95 collisions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047488" y="2606040"/>
            <a:ext cx="3977640" cy="1851660"/>
            <a:chOff x="0" y="0"/>
            <a:chExt cx="5303520" cy="24688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035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530352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5175504" y="0"/>
                  </a:lnTo>
                  <a:cubicBezTo>
                    <a:pt x="5246243" y="0"/>
                    <a:pt x="5303520" y="57277"/>
                    <a:pt x="5303520" y="128016"/>
                  </a:cubicBezTo>
                  <a:lnTo>
                    <a:pt x="5303520" y="2340864"/>
                  </a:lnTo>
                  <a:cubicBezTo>
                    <a:pt x="5303520" y="2411603"/>
                    <a:pt x="5246243" y="2468880"/>
                    <a:pt x="5175504" y="2468880"/>
                  </a:cubicBezTo>
                  <a:lnTo>
                    <a:pt x="128016" y="2468880"/>
                  </a:lnTo>
                  <a:cubicBezTo>
                    <a:pt x="57277" y="2468880"/>
                    <a:pt x="0" y="2411603"/>
                    <a:pt x="0" y="2340864"/>
                  </a:cubicBezTo>
                  <a:close/>
                </a:path>
              </a:pathLst>
            </a:custGeom>
            <a:solidFill>
              <a:srgbClr val="C4463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047488" y="2674620"/>
            <a:ext cx="3977640" cy="822960"/>
            <a:chOff x="0" y="0"/>
            <a:chExt cx="530352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03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530352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0%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184648" y="3497580"/>
            <a:ext cx="3703320" cy="411480"/>
            <a:chOff x="0" y="0"/>
            <a:chExt cx="493776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937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high_dropout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184648" y="3909060"/>
            <a:ext cx="3703320" cy="411480"/>
            <a:chOff x="0" y="0"/>
            <a:chExt cx="493776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49377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BD9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MSR · 118.2 collisions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272016" y="2606040"/>
            <a:ext cx="3977640" cy="1851660"/>
            <a:chOff x="0" y="0"/>
            <a:chExt cx="5303520" cy="24688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035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530352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5175504" y="0"/>
                  </a:lnTo>
                  <a:cubicBezTo>
                    <a:pt x="5246243" y="0"/>
                    <a:pt x="5303520" y="57277"/>
                    <a:pt x="5303520" y="128016"/>
                  </a:cubicBezTo>
                  <a:lnTo>
                    <a:pt x="5303520" y="2340864"/>
                  </a:lnTo>
                  <a:cubicBezTo>
                    <a:pt x="5303520" y="2411603"/>
                    <a:pt x="5246243" y="2468880"/>
                    <a:pt x="5175504" y="2468880"/>
                  </a:cubicBezTo>
                  <a:lnTo>
                    <a:pt x="128016" y="2468880"/>
                  </a:lnTo>
                  <a:cubicBezTo>
                    <a:pt x="57277" y="2468880"/>
                    <a:pt x="0" y="2411603"/>
                    <a:pt x="0" y="2340864"/>
                  </a:cubicBezTo>
                  <a:close/>
                </a:path>
              </a:pathLst>
            </a:custGeom>
            <a:solidFill>
              <a:srgbClr val="C4463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272016" y="2674620"/>
            <a:ext cx="3977640" cy="822960"/>
            <a:chOff x="0" y="0"/>
            <a:chExt cx="530352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03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530352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0%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409176" y="3497580"/>
            <a:ext cx="3703320" cy="411480"/>
            <a:chOff x="0" y="0"/>
            <a:chExt cx="493776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4937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simultaneous_failures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409176" y="3909060"/>
            <a:ext cx="3703320" cy="411480"/>
            <a:chOff x="0" y="0"/>
            <a:chExt cx="493776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49377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BD9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MSR · 154.45 collisions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496544" y="2606040"/>
            <a:ext cx="3977640" cy="1851660"/>
            <a:chOff x="0" y="0"/>
            <a:chExt cx="5303520" cy="24688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035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530352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5175504" y="0"/>
                  </a:lnTo>
                  <a:cubicBezTo>
                    <a:pt x="5246243" y="0"/>
                    <a:pt x="5303520" y="57277"/>
                    <a:pt x="5303520" y="128016"/>
                  </a:cubicBezTo>
                  <a:lnTo>
                    <a:pt x="5303520" y="2340864"/>
                  </a:lnTo>
                  <a:cubicBezTo>
                    <a:pt x="5303520" y="2411603"/>
                    <a:pt x="5246243" y="2468880"/>
                    <a:pt x="5175504" y="2468880"/>
                  </a:cubicBezTo>
                  <a:lnTo>
                    <a:pt x="128016" y="2468880"/>
                  </a:lnTo>
                  <a:cubicBezTo>
                    <a:pt x="57277" y="2468880"/>
                    <a:pt x="0" y="2411603"/>
                    <a:pt x="0" y="2340864"/>
                  </a:cubicBezTo>
                  <a:close/>
                </a:path>
              </a:pathLst>
            </a:custGeom>
            <a:solidFill>
              <a:srgbClr val="C4463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496544" y="2674620"/>
            <a:ext cx="3977640" cy="822960"/>
            <a:chOff x="0" y="0"/>
            <a:chExt cx="5303520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03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530352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0%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633704" y="3497580"/>
            <a:ext cx="3703320" cy="411480"/>
            <a:chOff x="0" y="0"/>
            <a:chExt cx="493776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4937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 ≥ 5 UAVs (600-step budget)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633704" y="3909060"/>
            <a:ext cx="3703320" cy="411480"/>
            <a:chOff x="0" y="0"/>
            <a:chExt cx="493776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49377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BD9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MSR · overhead-bound, not collisions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54380" y="4800600"/>
            <a:ext cx="8641080" cy="4594860"/>
            <a:chOff x="0" y="0"/>
            <a:chExt cx="11521440" cy="6126480"/>
          </a:xfrm>
        </p:grpSpPr>
        <p:sp>
          <p:nvSpPr>
            <p:cNvPr name="Freeform 53" id="53" descr="/home/claude/work/assets/final_failure_envelope_heatmap.png"/>
            <p:cNvSpPr/>
            <p:nvPr/>
          </p:nvSpPr>
          <p:spPr>
            <a:xfrm flipH="false" flipV="false" rot="0">
              <a:off x="0" y="0"/>
              <a:ext cx="11521440" cy="6126480"/>
            </a:xfrm>
            <a:custGeom>
              <a:avLst/>
              <a:gdLst/>
              <a:ahLst/>
              <a:cxnLst/>
              <a:rect r="r" b="b" t="t" l="l"/>
              <a:pathLst>
                <a:path h="612648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6126480"/>
                  </a:lnTo>
                  <a:lnTo>
                    <a:pt x="0" y="612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223" r="0" b="-25223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669780" y="4800600"/>
            <a:ext cx="7818120" cy="4594860"/>
            <a:chOff x="0" y="0"/>
            <a:chExt cx="10424160" cy="61264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424161" cy="6126480"/>
            </a:xfrm>
            <a:custGeom>
              <a:avLst/>
              <a:gdLst/>
              <a:ahLst/>
              <a:cxnLst/>
              <a:rect r="r" b="b" t="t" l="l"/>
              <a:pathLst>
                <a:path h="6126480" w="104241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277856" y="0"/>
                  </a:lnTo>
                  <a:cubicBezTo>
                    <a:pt x="10358628" y="0"/>
                    <a:pt x="10424161" y="65532"/>
                    <a:pt x="10424161" y="146304"/>
                  </a:cubicBezTo>
                  <a:lnTo>
                    <a:pt x="10424161" y="5980176"/>
                  </a:lnTo>
                  <a:cubicBezTo>
                    <a:pt x="10424161" y="6060948"/>
                    <a:pt x="10358628" y="6126480"/>
                    <a:pt x="10277856" y="6126480"/>
                  </a:cubicBezTo>
                  <a:lnTo>
                    <a:pt x="146304" y="6126480"/>
                  </a:lnTo>
                  <a:cubicBezTo>
                    <a:pt x="65532" y="6126480"/>
                    <a:pt x="0" y="6060948"/>
                    <a:pt x="0" y="5980176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012680" y="5006340"/>
            <a:ext cx="7132320" cy="548640"/>
            <a:chOff x="0" y="0"/>
            <a:chExt cx="950976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95097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FAILURE ENVELOPE — WHAT FLIPS THE SWARM UNSAFE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012680" y="5815584"/>
            <a:ext cx="192024" cy="192024"/>
            <a:chOff x="0" y="0"/>
            <a:chExt cx="256032" cy="25603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C4463A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424160" y="5692140"/>
            <a:ext cx="6720840" cy="480060"/>
            <a:chOff x="0" y="0"/>
            <a:chExt cx="8961120" cy="6400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961120" cy="640080"/>
            </a:xfrm>
            <a:custGeom>
              <a:avLst/>
              <a:gdLst/>
              <a:ahLst/>
              <a:cxnLst/>
              <a:rect r="r" b="b" t="t" l="l"/>
              <a:pathLst>
                <a:path h="6400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896112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P_D ≤ 0.1 → safety failure (0.3 still degraded-but-functional, not failed)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012680" y="6364224"/>
            <a:ext cx="192024" cy="192024"/>
            <a:chOff x="0" y="0"/>
            <a:chExt cx="256032" cy="25603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C4463A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0424160" y="6240780"/>
            <a:ext cx="6720840" cy="480060"/>
            <a:chOff x="0" y="0"/>
            <a:chExt cx="8961120" cy="6400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961120" cy="640080"/>
            </a:xfrm>
            <a:custGeom>
              <a:avLst/>
              <a:gdLst/>
              <a:ahLst/>
              <a:cxnLst/>
              <a:rect r="r" b="b" t="t" l="l"/>
              <a:pathLst>
                <a:path h="6400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896112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Calibration error ≥ 0.2 → mission failure (no safety failure observed up to 0.5)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012680" y="6912864"/>
            <a:ext cx="192024" cy="192024"/>
            <a:chOff x="0" y="0"/>
            <a:chExt cx="256032" cy="25603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C4463A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424160" y="6789420"/>
            <a:ext cx="6720840" cy="480060"/>
            <a:chOff x="0" y="0"/>
            <a:chExt cx="8961120" cy="6400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961120" cy="640080"/>
            </a:xfrm>
            <a:custGeom>
              <a:avLst/>
              <a:gdLst/>
              <a:ahLst/>
              <a:cxnLst/>
              <a:rect r="r" b="b" t="t" l="l"/>
              <a:pathLst>
                <a:path h="6400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896112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Covariance magnitude ≥ 3.0 → safety failure (2.0 still degraded-but-functional)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012680" y="7461504"/>
            <a:ext cx="192024" cy="192024"/>
            <a:chOff x="0" y="0"/>
            <a:chExt cx="256032" cy="25603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C4463A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0424160" y="7338060"/>
            <a:ext cx="6720840" cy="480060"/>
            <a:chOff x="0" y="0"/>
            <a:chExt cx="8961120" cy="6400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961120" cy="640080"/>
            </a:xfrm>
            <a:custGeom>
              <a:avLst/>
              <a:gdLst/>
              <a:ahLst/>
              <a:cxnLst/>
              <a:rect r="r" b="b" t="t" l="l"/>
              <a:pathLst>
                <a:path h="6400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896112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Sensor disagreement = 4.0 → mission failure (not a safety failure)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012680" y="8023860"/>
            <a:ext cx="7132320" cy="1303020"/>
            <a:chOff x="0" y="0"/>
            <a:chExt cx="9509760" cy="17373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5097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654" r="0" b="-5665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950976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500" i="true">
                  <a:solidFill>
                    <a:srgbClr val="5B628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Combined faults: latency + rapidly-moving obstacle was the only paired-fault SAFETY FAILURE (19 collisions/run); low-P_D+clutter, ghost-returns+crossing, and corrupted-confidence+delay each hit MISSION FAILURE without collisions.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7323308" y="9669780"/>
            <a:ext cx="548640" cy="411480"/>
            <a:chOff x="0" y="0"/>
            <a:chExt cx="731520" cy="5486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Radar-Fusion UAV Swarm Simulation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E8A3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DEMONSTRATION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3D mission playback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74620"/>
            <a:ext cx="8092440" cy="5692140"/>
            <a:chOff x="0" y="0"/>
            <a:chExt cx="10789920" cy="7589520"/>
          </a:xfrm>
        </p:grpSpPr>
        <p:sp>
          <p:nvSpPr>
            <p:cNvPr name="Freeform 9" id="9" descr="/home/claude/work/assets/baseline_3d.jpg"/>
            <p:cNvSpPr/>
            <p:nvPr/>
          </p:nvSpPr>
          <p:spPr>
            <a:xfrm flipH="false" flipV="false" rot="0">
              <a:off x="0" y="0"/>
              <a:ext cx="10789920" cy="7589520"/>
            </a:xfrm>
            <a:custGeom>
              <a:avLst/>
              <a:gdLst/>
              <a:ahLst/>
              <a:cxnLst/>
              <a:rect r="r" b="b" t="t" l="l"/>
              <a:pathLst>
                <a:path h="758952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7589520"/>
                  </a:lnTo>
                  <a:lnTo>
                    <a:pt x="0" y="758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867" r="0" b="-686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58300" y="2674620"/>
            <a:ext cx="8092440" cy="5692140"/>
            <a:chOff x="0" y="0"/>
            <a:chExt cx="10789920" cy="7589520"/>
          </a:xfrm>
        </p:grpSpPr>
        <p:sp>
          <p:nvSpPr>
            <p:cNvPr name="Freeform 11" id="11" descr="/home/claude/work/assets/centralized_vs_distributed_fusion_3d.jpg"/>
            <p:cNvSpPr/>
            <p:nvPr/>
          </p:nvSpPr>
          <p:spPr>
            <a:xfrm flipH="false" flipV="false" rot="0">
              <a:off x="0" y="0"/>
              <a:ext cx="10789920" cy="7589520"/>
            </a:xfrm>
            <a:custGeom>
              <a:avLst/>
              <a:gdLst/>
              <a:ahLst/>
              <a:cxnLst/>
              <a:rect r="r" b="b" t="t" l="l"/>
              <a:pathLst>
                <a:path h="758952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7589520"/>
                  </a:lnTo>
                  <a:lnTo>
                    <a:pt x="0" y="758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23" t="0" r="-37923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8476488"/>
            <a:ext cx="8092440" cy="411480"/>
            <a:chOff x="0" y="0"/>
            <a:chExt cx="1078992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89920" cy="548640"/>
            </a:xfrm>
            <a:custGeom>
              <a:avLst/>
              <a:gdLst/>
              <a:ahLst/>
              <a:cxnLst/>
              <a:rect r="r" b="b" t="t" l="l"/>
              <a:pathLst>
                <a:path h="54864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7899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Baseline mission trajectory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58300" y="8476488"/>
            <a:ext cx="8092440" cy="411480"/>
            <a:chOff x="0" y="0"/>
            <a:chExt cx="1078992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89920" cy="548640"/>
            </a:xfrm>
            <a:custGeom>
              <a:avLst/>
              <a:gdLst/>
              <a:ahLst/>
              <a:cxnLst/>
              <a:rect r="r" b="b" t="t" l="l"/>
              <a:pathLst>
                <a:path h="54864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7899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Centralized vs. distributed fusion (3D)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8942832"/>
            <a:ext cx="16596360" cy="576072"/>
            <a:chOff x="0" y="0"/>
            <a:chExt cx="22128480" cy="7680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28480" cy="768096"/>
            </a:xfrm>
            <a:custGeom>
              <a:avLst/>
              <a:gdLst/>
              <a:ahLst/>
              <a:cxnLst/>
              <a:rect r="r" b="b" t="t" l="l"/>
              <a:pathLst>
                <a:path h="76809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1354" r="0" b="-51135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21284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i="true">
                  <a:solidFill>
                    <a:srgbClr val="8A93C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Frames captured from simulation_visualizer.py's rendered flight replays. Full animated .mp4 demonstrations (baseline, fixed-vs-dynamic trust, faulty-sensor, communication-outage, and 13 more) accompany the project repository.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323308" y="9669780"/>
            <a:ext cx="548640" cy="411480"/>
            <a:chOff x="0" y="0"/>
            <a:chExt cx="73152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8A93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Radar-Fusion UAV Swarm Simulation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CONTRIBUTIONS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this project built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74620"/>
            <a:ext cx="548640" cy="548640"/>
            <a:chOff x="0" y="0"/>
            <a:chExt cx="73152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21792" y="0"/>
                  </a:lnTo>
                  <a:cubicBezTo>
                    <a:pt x="682371" y="0"/>
                    <a:pt x="731520" y="49149"/>
                    <a:pt x="731520" y="109728"/>
                  </a:cubicBezTo>
                  <a:lnTo>
                    <a:pt x="731520" y="621792"/>
                  </a:lnTo>
                  <a:cubicBezTo>
                    <a:pt x="731520" y="682371"/>
                    <a:pt x="682371" y="731520"/>
                    <a:pt x="621792" y="731520"/>
                  </a:cubicBezTo>
                  <a:lnTo>
                    <a:pt x="109728" y="731520"/>
                  </a:lnTo>
                  <a:cubicBezTo>
                    <a:pt x="49149" y="731520"/>
                    <a:pt x="0" y="682371"/>
                    <a:pt x="0" y="621792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674620"/>
            <a:ext cx="548640" cy="548640"/>
            <a:chOff x="0" y="0"/>
            <a:chExt cx="73152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77340" y="2606040"/>
            <a:ext cx="15841980" cy="754380"/>
            <a:chOff x="0" y="0"/>
            <a:chExt cx="2112264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122639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11226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80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non-invasive radar fault-injection layer (P_D, P_FA/clutter, per-channel noise, latency, dropout) wrapped around the core swarm simulation with zero source edits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3538728"/>
            <a:ext cx="548640" cy="548640"/>
            <a:chOff x="0" y="0"/>
            <a:chExt cx="73152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21792" y="0"/>
                  </a:lnTo>
                  <a:cubicBezTo>
                    <a:pt x="682371" y="0"/>
                    <a:pt x="731520" y="49149"/>
                    <a:pt x="731520" y="109728"/>
                  </a:cubicBezTo>
                  <a:lnTo>
                    <a:pt x="731520" y="621792"/>
                  </a:lnTo>
                  <a:cubicBezTo>
                    <a:pt x="731520" y="682371"/>
                    <a:pt x="682371" y="731520"/>
                    <a:pt x="621792" y="731520"/>
                  </a:cubicBezTo>
                  <a:lnTo>
                    <a:pt x="109728" y="731520"/>
                  </a:lnTo>
                  <a:cubicBezTo>
                    <a:pt x="49149" y="731520"/>
                    <a:pt x="0" y="682371"/>
                    <a:pt x="0" y="621792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3538728"/>
            <a:ext cx="548640" cy="548640"/>
            <a:chOff x="0" y="0"/>
            <a:chExt cx="73152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77340" y="3470148"/>
            <a:ext cx="15841980" cy="754380"/>
            <a:chOff x="0" y="0"/>
            <a:chExt cx="2112264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122639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11226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80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Mahalanobis-gated Kalman tracker with full track lifecycle management (tentative → confirmed → coasting → lost → deleted)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4402836"/>
            <a:ext cx="548640" cy="548640"/>
            <a:chOff x="0" y="0"/>
            <a:chExt cx="73152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21792" y="0"/>
                  </a:lnTo>
                  <a:cubicBezTo>
                    <a:pt x="682371" y="0"/>
                    <a:pt x="731520" y="49149"/>
                    <a:pt x="731520" y="109728"/>
                  </a:cubicBezTo>
                  <a:lnTo>
                    <a:pt x="731520" y="621792"/>
                  </a:lnTo>
                  <a:cubicBezTo>
                    <a:pt x="731520" y="682371"/>
                    <a:pt x="682371" y="731520"/>
                    <a:pt x="621792" y="731520"/>
                  </a:cubicBezTo>
                  <a:lnTo>
                    <a:pt x="109728" y="731520"/>
                  </a:lnTo>
                  <a:cubicBezTo>
                    <a:pt x="49149" y="731520"/>
                    <a:pt x="0" y="682371"/>
                    <a:pt x="0" y="621792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4402836"/>
            <a:ext cx="548640" cy="548640"/>
            <a:chOff x="0" y="0"/>
            <a:chExt cx="73152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77340" y="4334256"/>
            <a:ext cx="15841980" cy="754380"/>
            <a:chOff x="0" y="0"/>
            <a:chExt cx="2112264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122639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211226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80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Six cross-UAV fusion modes under both centralized and distributed architectures, sharing one composite reliability model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5266944"/>
            <a:ext cx="548640" cy="548640"/>
            <a:chOff x="0" y="0"/>
            <a:chExt cx="73152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21792" y="0"/>
                  </a:lnTo>
                  <a:cubicBezTo>
                    <a:pt x="682371" y="0"/>
                    <a:pt x="731520" y="49149"/>
                    <a:pt x="731520" y="109728"/>
                  </a:cubicBezTo>
                  <a:lnTo>
                    <a:pt x="731520" y="621792"/>
                  </a:lnTo>
                  <a:cubicBezTo>
                    <a:pt x="731520" y="682371"/>
                    <a:pt x="682371" y="731520"/>
                    <a:pt x="621792" y="731520"/>
                  </a:cubicBezTo>
                  <a:lnTo>
                    <a:pt x="109728" y="731520"/>
                  </a:lnTo>
                  <a:cubicBezTo>
                    <a:pt x="49149" y="731520"/>
                    <a:pt x="0" y="682371"/>
                    <a:pt x="0" y="621792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5266944"/>
            <a:ext cx="548640" cy="548640"/>
            <a:chOff x="0" y="0"/>
            <a:chExt cx="73152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77340" y="5198364"/>
            <a:ext cx="15841980" cy="754380"/>
            <a:chOff x="0" y="0"/>
            <a:chExt cx="2112264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122639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11226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80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dynamic, cross-step TrustTracker that adapts trust from observed disagreement rather than a sensor's own self-report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6131052"/>
            <a:ext cx="548640" cy="548640"/>
            <a:chOff x="0" y="0"/>
            <a:chExt cx="73152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21792" y="0"/>
                  </a:lnTo>
                  <a:cubicBezTo>
                    <a:pt x="682371" y="0"/>
                    <a:pt x="731520" y="49149"/>
                    <a:pt x="731520" y="109728"/>
                  </a:cubicBezTo>
                  <a:lnTo>
                    <a:pt x="731520" y="621792"/>
                  </a:lnTo>
                  <a:cubicBezTo>
                    <a:pt x="731520" y="682371"/>
                    <a:pt x="682371" y="731520"/>
                    <a:pt x="621792" y="731520"/>
                  </a:cubicBezTo>
                  <a:lnTo>
                    <a:pt x="109728" y="731520"/>
                  </a:lnTo>
                  <a:cubicBezTo>
                    <a:pt x="49149" y="731520"/>
                    <a:pt x="0" y="682371"/>
                    <a:pt x="0" y="621792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2960" y="6131052"/>
            <a:ext cx="548640" cy="548640"/>
            <a:chOff x="0" y="0"/>
            <a:chExt cx="73152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77340" y="6062472"/>
            <a:ext cx="15841980" cy="754380"/>
            <a:chOff x="0" y="0"/>
            <a:chExt cx="21122640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122639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211226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80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communication channel model (packet loss, range, latency, staleness, corruption) for realistic distributed fusion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2960" y="6995160"/>
            <a:ext cx="548640" cy="548640"/>
            <a:chOff x="0" y="0"/>
            <a:chExt cx="73152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21792" y="0"/>
                  </a:lnTo>
                  <a:cubicBezTo>
                    <a:pt x="682371" y="0"/>
                    <a:pt x="731520" y="49149"/>
                    <a:pt x="731520" y="109728"/>
                  </a:cubicBezTo>
                  <a:lnTo>
                    <a:pt x="731520" y="621792"/>
                  </a:lnTo>
                  <a:cubicBezTo>
                    <a:pt x="731520" y="682371"/>
                    <a:pt x="682371" y="731520"/>
                    <a:pt x="621792" y="731520"/>
                  </a:cubicBezTo>
                  <a:lnTo>
                    <a:pt x="109728" y="731520"/>
                  </a:lnTo>
                  <a:cubicBezTo>
                    <a:pt x="49149" y="731520"/>
                    <a:pt x="0" y="682371"/>
                    <a:pt x="0" y="621792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6995160"/>
            <a:ext cx="548640" cy="548640"/>
            <a:chOff x="0" y="0"/>
            <a:chExt cx="73152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77340" y="6926580"/>
            <a:ext cx="15841980" cy="754380"/>
            <a:chOff x="0" y="0"/>
            <a:chExt cx="21122640" cy="10058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122639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211226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80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12-parameter failure-envelope sweep and 8 paired combined-fault scenarios classifying SAFE → DEGRADED → MISSION FAILURE → SAFETY FAILURE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7859268"/>
            <a:ext cx="548640" cy="548640"/>
            <a:chOff x="0" y="0"/>
            <a:chExt cx="73152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21792" y="0"/>
                  </a:lnTo>
                  <a:cubicBezTo>
                    <a:pt x="682371" y="0"/>
                    <a:pt x="731520" y="49149"/>
                    <a:pt x="731520" y="109728"/>
                  </a:cubicBezTo>
                  <a:lnTo>
                    <a:pt x="731520" y="621792"/>
                  </a:lnTo>
                  <a:cubicBezTo>
                    <a:pt x="731520" y="682371"/>
                    <a:pt x="682371" y="731520"/>
                    <a:pt x="621792" y="731520"/>
                  </a:cubicBezTo>
                  <a:lnTo>
                    <a:pt x="109728" y="731520"/>
                  </a:lnTo>
                  <a:cubicBezTo>
                    <a:pt x="49149" y="731520"/>
                    <a:pt x="0" y="682371"/>
                    <a:pt x="0" y="621792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22960" y="7859268"/>
            <a:ext cx="548640" cy="548640"/>
            <a:chOff x="0" y="0"/>
            <a:chExt cx="731520" cy="731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577340" y="7790688"/>
            <a:ext cx="15841980" cy="754380"/>
            <a:chOff x="0" y="0"/>
            <a:chExt cx="21122640" cy="10058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122639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211226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800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reproducible 62-scenario × 1,240-run Monte-Carlo package with full seed/config provenance and an automated 18/18 sanity check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22960" y="8709660"/>
            <a:ext cx="16596360" cy="891540"/>
            <a:chOff x="0" y="0"/>
            <a:chExt cx="22128480" cy="11887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128479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128479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2000463" y="0"/>
                  </a:lnTo>
                  <a:cubicBezTo>
                    <a:pt x="22071202" y="0"/>
                    <a:pt x="22128479" y="57277"/>
                    <a:pt x="22128479" y="128016"/>
                  </a:cubicBezTo>
                  <a:lnTo>
                    <a:pt x="22128479" y="1060704"/>
                  </a:lnTo>
                  <a:cubicBezTo>
                    <a:pt x="22128479" y="1131443"/>
                    <a:pt x="22071202" y="1188720"/>
                    <a:pt x="22000463" y="1188720"/>
                  </a:cubicBezTo>
                  <a:lnTo>
                    <a:pt x="128016" y="1188720"/>
                  </a:lnTo>
                  <a:cubicBezTo>
                    <a:pt x="57277" y="1188720"/>
                    <a:pt x="0" y="1131443"/>
                    <a:pt x="0" y="1060704"/>
                  </a:cubicBezTo>
                  <a:close/>
                </a:path>
              </a:pathLst>
            </a:custGeom>
            <a:solidFill>
              <a:srgbClr val="E9F5EF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65860" y="8709660"/>
            <a:ext cx="15910560" cy="891540"/>
            <a:chOff x="0" y="0"/>
            <a:chExt cx="21214080" cy="11887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12140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732" r="0" b="-29773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2121408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 b="true">
                  <a:solidFill>
                    <a:srgbClr val="3FA7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Independent correctness verification: 393/393 deterministic checks pass across radar (99), tracker (40), fusion (29), calibration (24), communication (28), dynamic trust (13), metrics (32), handoff (57), and quality-monitor (71) validation suites.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7323308" y="9669780"/>
            <a:ext cx="548640" cy="411480"/>
            <a:chOff x="0" y="0"/>
            <a:chExt cx="731520" cy="548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Radar-Fusion UAV Swarm Simulation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Where this result package still falls short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70048"/>
            <a:ext cx="16596360" cy="1261872"/>
            <a:chOff x="0" y="0"/>
            <a:chExt cx="22128480" cy="168249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2128480" cy="1682496"/>
              <a:chOff x="0" y="0"/>
              <a:chExt cx="22128480" cy="168249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2128480" cy="1682496"/>
              </a:xfrm>
              <a:custGeom>
                <a:avLst/>
                <a:gdLst/>
                <a:ahLst/>
                <a:cxnLst/>
                <a:rect r="r" b="b" t="t" l="l"/>
                <a:pathLst>
                  <a:path h="1682496" w="22128480">
                    <a:moveTo>
                      <a:pt x="0" y="109728"/>
                    </a:moveTo>
                    <a:cubicBezTo>
                      <a:pt x="0" y="49149"/>
                      <a:pt x="49149" y="0"/>
                      <a:pt x="109728" y="0"/>
                    </a:cubicBezTo>
                    <a:lnTo>
                      <a:pt x="22018752" y="0"/>
                    </a:lnTo>
                    <a:cubicBezTo>
                      <a:pt x="22079331" y="0"/>
                      <a:pt x="22128480" y="49149"/>
                      <a:pt x="22128480" y="109728"/>
                    </a:cubicBezTo>
                    <a:lnTo>
                      <a:pt x="22128480" y="1572768"/>
                    </a:lnTo>
                    <a:cubicBezTo>
                      <a:pt x="22128480" y="1633347"/>
                      <a:pt x="22079331" y="1682496"/>
                      <a:pt x="22018752" y="1682496"/>
                    </a:cubicBezTo>
                    <a:lnTo>
                      <a:pt x="109728" y="1682496"/>
                    </a:lnTo>
                    <a:cubicBezTo>
                      <a:pt x="49149" y="1682496"/>
                      <a:pt x="0" y="1633347"/>
                      <a:pt x="0" y="1572768"/>
                    </a:cubicBezTo>
                    <a:close/>
                  </a:path>
                </a:pathLst>
              </a:custGeom>
              <a:solidFill>
                <a:srgbClr val="FDF3E3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457200" y="146304"/>
              <a:ext cx="21214080" cy="548640"/>
              <a:chOff x="0" y="0"/>
              <a:chExt cx="21214080" cy="54864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1214080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21214080">
                    <a:moveTo>
                      <a:pt x="0" y="0"/>
                    </a:moveTo>
                    <a:lnTo>
                      <a:pt x="21214080" y="0"/>
                    </a:lnTo>
                    <a:lnTo>
                      <a:pt x="21214080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703421" r="0" b="-703421"/>
                </a:stretch>
              </a:blip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0"/>
                <a:ext cx="21214080" cy="54864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50"/>
                  </a:lnSpc>
                </a:pPr>
                <a:r>
                  <a:rPr lang="en-US" sz="1875" b="true">
                    <a:solidFill>
                      <a:srgbClr val="1E2761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Non-significant fusion comparisons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457200" y="658368"/>
              <a:ext cx="21214080" cy="1005840"/>
              <a:chOff x="0" y="0"/>
              <a:chExt cx="21214080" cy="100584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1214080" cy="1005840"/>
              </a:xfrm>
              <a:custGeom>
                <a:avLst/>
                <a:gdLst/>
                <a:ahLst/>
                <a:cxnLst/>
                <a:rect r="r" b="b" t="t" l="l"/>
                <a:pathLst>
                  <a:path h="1005840" w="21214080">
                    <a:moveTo>
                      <a:pt x="0" y="0"/>
                    </a:moveTo>
                    <a:lnTo>
                      <a:pt x="21214080" y="0"/>
                    </a:lnTo>
                    <a:lnTo>
                      <a:pt x="21214080" y="1005840"/>
                    </a:lnTo>
                    <a:lnTo>
                      <a:pt x="0" y="10058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60957" r="0" b="-360957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21214080" cy="10534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946"/>
                  </a:lnSpc>
                </a:pPr>
                <a:r>
                  <a:rPr lang="en-US" sz="1545">
                    <a:solidFill>
                      <a:srgbClr val="1B1F3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At N = 20 trials, no pairwise fusion-mode comparison (naive vs. trust-weighted vs. covariance-weighted, fixed vs. dynamic trust) reached statistical significance — differences are numerically present but not yet distinguishable from noise.</a:t>
                </a: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822960" y="4581144"/>
            <a:ext cx="16596360" cy="1261872"/>
            <a:chOff x="0" y="0"/>
            <a:chExt cx="22128480" cy="168249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2128480" cy="1682496"/>
              <a:chOff x="0" y="0"/>
              <a:chExt cx="22128480" cy="168249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2128480" cy="1682496"/>
              </a:xfrm>
              <a:custGeom>
                <a:avLst/>
                <a:gdLst/>
                <a:ahLst/>
                <a:cxnLst/>
                <a:rect r="r" b="b" t="t" l="l"/>
                <a:pathLst>
                  <a:path h="1682496" w="22128480">
                    <a:moveTo>
                      <a:pt x="0" y="109728"/>
                    </a:moveTo>
                    <a:cubicBezTo>
                      <a:pt x="0" y="49149"/>
                      <a:pt x="49149" y="0"/>
                      <a:pt x="109728" y="0"/>
                    </a:cubicBezTo>
                    <a:lnTo>
                      <a:pt x="22018752" y="0"/>
                    </a:lnTo>
                    <a:cubicBezTo>
                      <a:pt x="22079331" y="0"/>
                      <a:pt x="22128480" y="49149"/>
                      <a:pt x="22128480" y="109728"/>
                    </a:cubicBezTo>
                    <a:lnTo>
                      <a:pt x="22128480" y="1572768"/>
                    </a:lnTo>
                    <a:cubicBezTo>
                      <a:pt x="22128480" y="1633347"/>
                      <a:pt x="22079331" y="1682496"/>
                      <a:pt x="22018752" y="1682496"/>
                    </a:cubicBezTo>
                    <a:lnTo>
                      <a:pt x="109728" y="1682496"/>
                    </a:lnTo>
                    <a:cubicBezTo>
                      <a:pt x="49149" y="1682496"/>
                      <a:pt x="0" y="1633347"/>
                      <a:pt x="0" y="1572768"/>
                    </a:cubicBezTo>
                    <a:close/>
                  </a:path>
                </a:pathLst>
              </a:custGeom>
              <a:solidFill>
                <a:srgbClr val="FDF3E3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457200" y="146304"/>
              <a:ext cx="21214080" cy="548640"/>
              <a:chOff x="0" y="0"/>
              <a:chExt cx="21214080" cy="54864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1214080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21214080">
                    <a:moveTo>
                      <a:pt x="0" y="0"/>
                    </a:moveTo>
                    <a:lnTo>
                      <a:pt x="21214080" y="0"/>
                    </a:lnTo>
                    <a:lnTo>
                      <a:pt x="21214080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703421" r="0" b="-703421"/>
                </a:stretch>
              </a:blip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0"/>
                <a:ext cx="21214080" cy="54864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50"/>
                  </a:lnSpc>
                </a:pPr>
                <a:r>
                  <a:rPr lang="en-US" sz="1875" b="true">
                    <a:solidFill>
                      <a:srgbClr val="1E2761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Dynamic trust did not clearly win</a:t>
                </a: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457200" y="658368"/>
              <a:ext cx="21214080" cy="1005840"/>
              <a:chOff x="0" y="0"/>
              <a:chExt cx="21214080" cy="100584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1214080" cy="1005840"/>
              </a:xfrm>
              <a:custGeom>
                <a:avLst/>
                <a:gdLst/>
                <a:ahLst/>
                <a:cxnLst/>
                <a:rect r="r" b="b" t="t" l="l"/>
                <a:pathLst>
                  <a:path h="1005840" w="21214080">
                    <a:moveTo>
                      <a:pt x="0" y="0"/>
                    </a:moveTo>
                    <a:lnTo>
                      <a:pt x="21214080" y="0"/>
                    </a:lnTo>
                    <a:lnTo>
                      <a:pt x="21214080" y="1005840"/>
                    </a:lnTo>
                    <a:lnTo>
                      <a:pt x="0" y="10058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60957" r="0" b="-360957"/>
                </a:stretch>
              </a:blip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21214080" cy="10534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946"/>
                  </a:lnSpc>
                </a:pPr>
                <a:r>
                  <a:rPr lang="en-US" sz="1545">
                    <a:solidFill>
                      <a:srgbClr val="1B1F3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Dynamic trust's collision mean under a faulty sensor was numerically higher than fixed trust, and a separate dependability comparison favored fixed trust — the adaptive mechanism needs more targeted scenarios or trials to show a clear benefit.</a:t>
                </a: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0">
            <a:off x="822960" y="6371082"/>
            <a:ext cx="16596360" cy="1261872"/>
            <a:chOff x="0" y="0"/>
            <a:chExt cx="22128480" cy="1682496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22128480" cy="1682496"/>
              <a:chOff x="0" y="0"/>
              <a:chExt cx="22128480" cy="1682496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2128480" cy="1682496"/>
              </a:xfrm>
              <a:custGeom>
                <a:avLst/>
                <a:gdLst/>
                <a:ahLst/>
                <a:cxnLst/>
                <a:rect r="r" b="b" t="t" l="l"/>
                <a:pathLst>
                  <a:path h="1682496" w="22128480">
                    <a:moveTo>
                      <a:pt x="0" y="109728"/>
                    </a:moveTo>
                    <a:cubicBezTo>
                      <a:pt x="0" y="49149"/>
                      <a:pt x="49149" y="0"/>
                      <a:pt x="109728" y="0"/>
                    </a:cubicBezTo>
                    <a:lnTo>
                      <a:pt x="22018752" y="0"/>
                    </a:lnTo>
                    <a:cubicBezTo>
                      <a:pt x="22079331" y="0"/>
                      <a:pt x="22128480" y="49149"/>
                      <a:pt x="22128480" y="109728"/>
                    </a:cubicBezTo>
                    <a:lnTo>
                      <a:pt x="22128480" y="1572768"/>
                    </a:lnTo>
                    <a:cubicBezTo>
                      <a:pt x="22128480" y="1633347"/>
                      <a:pt x="22079331" y="1682496"/>
                      <a:pt x="22018752" y="1682496"/>
                    </a:cubicBezTo>
                    <a:lnTo>
                      <a:pt x="109728" y="1682496"/>
                    </a:lnTo>
                    <a:cubicBezTo>
                      <a:pt x="49149" y="1682496"/>
                      <a:pt x="0" y="1633347"/>
                      <a:pt x="0" y="1572768"/>
                    </a:cubicBezTo>
                    <a:close/>
                  </a:path>
                </a:pathLst>
              </a:custGeom>
              <a:solidFill>
                <a:srgbClr val="FDF3E3"/>
              </a:soli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457200" y="146304"/>
              <a:ext cx="21214080" cy="548640"/>
              <a:chOff x="0" y="0"/>
              <a:chExt cx="21214080" cy="54864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1214080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21214080">
                    <a:moveTo>
                      <a:pt x="0" y="0"/>
                    </a:moveTo>
                    <a:lnTo>
                      <a:pt x="21214080" y="0"/>
                    </a:lnTo>
                    <a:lnTo>
                      <a:pt x="21214080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703421" r="0" b="-703421"/>
                </a:stretch>
              </a:blip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0"/>
                <a:ext cx="21214080" cy="54864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50"/>
                  </a:lnSpc>
                </a:pPr>
                <a:r>
                  <a:rPr lang="en-US" sz="1875" b="true">
                    <a:solidFill>
                      <a:srgbClr val="1E2761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Scalability ceiling</a:t>
                </a: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457200" y="658368"/>
              <a:ext cx="21214080" cy="1005840"/>
              <a:chOff x="0" y="0"/>
              <a:chExt cx="21214080" cy="100584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1214080" cy="1005840"/>
              </a:xfrm>
              <a:custGeom>
                <a:avLst/>
                <a:gdLst/>
                <a:ahLst/>
                <a:cxnLst/>
                <a:rect r="r" b="b" t="t" l="l"/>
                <a:pathLst>
                  <a:path h="1005840" w="21214080">
                    <a:moveTo>
                      <a:pt x="0" y="0"/>
                    </a:moveTo>
                    <a:lnTo>
                      <a:pt x="21214080" y="0"/>
                    </a:lnTo>
                    <a:lnTo>
                      <a:pt x="21214080" y="1005840"/>
                    </a:lnTo>
                    <a:lnTo>
                      <a:pt x="0" y="10058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60957" r="0" b="-360957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47625"/>
                <a:ext cx="21214080" cy="10534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946"/>
                  </a:lnSpc>
                </a:pPr>
                <a:r>
                  <a:rPr lang="en-US" sz="1545">
                    <a:solidFill>
                      <a:srgbClr val="1B1F3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Mission success falls to 0% for swarms of 5+ UAVs within the 600-step budget — driven by formation/avoidance overhead, not collisions, so this reflects a time-budget limit more than a safety failure.</a:t>
                </a: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0">
            <a:off x="822960" y="8161020"/>
            <a:ext cx="16596360" cy="1261872"/>
            <a:chOff x="0" y="0"/>
            <a:chExt cx="22128480" cy="16824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128480" cy="1682496"/>
            </a:xfrm>
            <a:custGeom>
              <a:avLst/>
              <a:gdLst/>
              <a:ahLst/>
              <a:cxnLst/>
              <a:rect r="r" b="b" t="t" l="l"/>
              <a:pathLst>
                <a:path h="1682496" w="22128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2018752" y="0"/>
                  </a:lnTo>
                  <a:cubicBezTo>
                    <a:pt x="22079331" y="0"/>
                    <a:pt x="22128480" y="49149"/>
                    <a:pt x="22128480" y="109728"/>
                  </a:cubicBezTo>
                  <a:lnTo>
                    <a:pt x="22128480" y="1572768"/>
                  </a:lnTo>
                  <a:cubicBezTo>
                    <a:pt x="22128480" y="1633347"/>
                    <a:pt x="22079331" y="1682496"/>
                    <a:pt x="22018752" y="1682496"/>
                  </a:cubicBezTo>
                  <a:lnTo>
                    <a:pt x="109728" y="1682496"/>
                  </a:lnTo>
                  <a:cubicBezTo>
                    <a:pt x="49149" y="1682496"/>
                    <a:pt x="0" y="1633347"/>
                    <a:pt x="0" y="1572768"/>
                  </a:cubicBezTo>
                  <a:close/>
                </a:path>
              </a:pathLst>
            </a:custGeom>
            <a:solidFill>
              <a:srgbClr val="FDF3E3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65860" y="8270748"/>
            <a:ext cx="15910560" cy="411480"/>
            <a:chOff x="0" y="0"/>
            <a:chExt cx="2121408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214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3421" r="0" b="-70342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12140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Vision/LiDAR stacks incomplete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65860" y="8654796"/>
            <a:ext cx="15910560" cy="754380"/>
            <a:chOff x="0" y="0"/>
            <a:chExt cx="21214080" cy="1005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214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957" r="0" b="-36095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2121408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6"/>
                </a:lnSpc>
              </a:pPr>
              <a:r>
                <a:rPr lang="en-US" sz="1545">
                  <a:solidFill>
                    <a:srgbClr val="1B1F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Comparison sensor models exist in the codebase for future multi-sensor work but are not part of this radar-centric final result package, and their own leakage audits are rated mixed/neutral (not a clean pass), with open corrective actions (e.g. detecting obstacles at runtime rather than from known positions).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7323308" y="9669780"/>
            <a:ext cx="548640" cy="411480"/>
            <a:chOff x="0" y="0"/>
            <a:chExt cx="73152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2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Radar-Fusion UAV Swarm Simulation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E8A3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 reproducible dependability lens on swarm fusion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74620"/>
            <a:ext cx="16596360" cy="1371600"/>
            <a:chOff x="0" y="0"/>
            <a:chExt cx="2212848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768" r="0" b="-18576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22128480" cy="192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Across 1,240 Monte-Carlo trials over 62 scenarios, the swarm's collision-avoidance and mission success stayed robust to individual perception faults, but collapsed sharply — 0% mission success — once detection probability, latency, or dropout crossed identifiable thresholds, or when multiple faults combined.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4320540"/>
            <a:ext cx="16596360" cy="1165860"/>
            <a:chOff x="0" y="0"/>
            <a:chExt cx="22128480" cy="1554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7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79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2000463" y="0"/>
                  </a:lnTo>
                  <a:cubicBezTo>
                    <a:pt x="22071202" y="0"/>
                    <a:pt x="22128479" y="57277"/>
                    <a:pt x="22128479" y="128016"/>
                  </a:cubicBezTo>
                  <a:lnTo>
                    <a:pt x="22128479" y="1426464"/>
                  </a:lnTo>
                  <a:cubicBezTo>
                    <a:pt x="22128479" y="1497203"/>
                    <a:pt x="22071202" y="1554480"/>
                    <a:pt x="22000463" y="1554480"/>
                  </a:cubicBezTo>
                  <a:lnTo>
                    <a:pt x="128016" y="1554480"/>
                  </a:lnTo>
                  <a:cubicBezTo>
                    <a:pt x="57277" y="1554480"/>
                    <a:pt x="0" y="1497203"/>
                    <a:pt x="0" y="1426464"/>
                  </a:cubicBezTo>
                  <a:close/>
                </a:path>
              </a:pathLst>
            </a:custGeom>
            <a:solidFill>
              <a:srgbClr val="27306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65860" y="4320540"/>
            <a:ext cx="15910560" cy="1165860"/>
            <a:chOff x="0" y="0"/>
            <a:chExt cx="21214080" cy="1554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214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913" r="0" b="-2159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121408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800" b="true">
                  <a:solidFill>
                    <a:srgbClr val="E8A3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fusion mode dominated — </a:t>
              </a: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 conventional trial counts — naive fusion was numerically strongest, but not significantly better than trust- or covariance-weighted fusion.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5623560"/>
            <a:ext cx="16596360" cy="1165860"/>
            <a:chOff x="0" y="0"/>
            <a:chExt cx="22128480" cy="15544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12847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79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2000463" y="0"/>
                  </a:lnTo>
                  <a:cubicBezTo>
                    <a:pt x="22071202" y="0"/>
                    <a:pt x="22128479" y="57277"/>
                    <a:pt x="22128479" y="128016"/>
                  </a:cubicBezTo>
                  <a:lnTo>
                    <a:pt x="22128479" y="1426464"/>
                  </a:lnTo>
                  <a:cubicBezTo>
                    <a:pt x="22128479" y="1497203"/>
                    <a:pt x="22071202" y="1554480"/>
                    <a:pt x="22000463" y="1554480"/>
                  </a:cubicBezTo>
                  <a:lnTo>
                    <a:pt x="128016" y="1554480"/>
                  </a:lnTo>
                  <a:cubicBezTo>
                    <a:pt x="57277" y="1554480"/>
                    <a:pt x="0" y="1497203"/>
                    <a:pt x="0" y="1426464"/>
                  </a:cubicBezTo>
                  <a:close/>
                </a:path>
              </a:pathLst>
            </a:custGeom>
            <a:solidFill>
              <a:srgbClr val="27306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65860" y="5623560"/>
            <a:ext cx="15910560" cy="1165860"/>
            <a:chOff x="0" y="0"/>
            <a:chExt cx="21214080" cy="1554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214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913" r="0" b="-21591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2121408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800" b="true">
                  <a:solidFill>
                    <a:srgbClr val="E8A3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Dynamic trust is promising, not yet proven — </a:t>
              </a: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 did not clearly beat static, self-reported trust in this data — a direction for more targeted experiments.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6926580"/>
            <a:ext cx="16596360" cy="1165860"/>
            <a:chOff x="0" y="0"/>
            <a:chExt cx="22128480" cy="15544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7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79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2000463" y="0"/>
                  </a:lnTo>
                  <a:cubicBezTo>
                    <a:pt x="22071202" y="0"/>
                    <a:pt x="22128479" y="57277"/>
                    <a:pt x="22128479" y="128016"/>
                  </a:cubicBezTo>
                  <a:lnTo>
                    <a:pt x="22128479" y="1426464"/>
                  </a:lnTo>
                  <a:cubicBezTo>
                    <a:pt x="22128479" y="1497203"/>
                    <a:pt x="22071202" y="1554480"/>
                    <a:pt x="22000463" y="1554480"/>
                  </a:cubicBezTo>
                  <a:lnTo>
                    <a:pt x="128016" y="1554480"/>
                  </a:lnTo>
                  <a:cubicBezTo>
                    <a:pt x="57277" y="1554480"/>
                    <a:pt x="0" y="1497203"/>
                    <a:pt x="0" y="1426464"/>
                  </a:cubicBezTo>
                  <a:close/>
                </a:path>
              </a:pathLst>
            </a:custGeom>
            <a:solidFill>
              <a:srgbClr val="27306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65860" y="6926580"/>
            <a:ext cx="15910560" cy="1165860"/>
            <a:chOff x="0" y="0"/>
            <a:chExt cx="21214080" cy="15544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214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913" r="0" b="-21591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2121408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800" b="true">
                  <a:solidFill>
                    <a:srgbClr val="E8A3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Failure is threshold-shaped — </a:t>
              </a: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safety failure appears at specific, now-documented parameter thresholds (P_D ≤ 0.1, covariance ≥ 3.0); calibration-error and sensor-disagreement faults drive mission failure rather than outright safety failure — not a smooth degradation.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" y="8229600"/>
            <a:ext cx="16596360" cy="1165860"/>
            <a:chOff x="0" y="0"/>
            <a:chExt cx="22128480" cy="1554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12847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79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2000463" y="0"/>
                  </a:lnTo>
                  <a:cubicBezTo>
                    <a:pt x="22071202" y="0"/>
                    <a:pt x="22128479" y="57277"/>
                    <a:pt x="22128479" y="128016"/>
                  </a:cubicBezTo>
                  <a:lnTo>
                    <a:pt x="22128479" y="1426464"/>
                  </a:lnTo>
                  <a:cubicBezTo>
                    <a:pt x="22128479" y="1497203"/>
                    <a:pt x="22071202" y="1554480"/>
                    <a:pt x="22000463" y="1554480"/>
                  </a:cubicBezTo>
                  <a:lnTo>
                    <a:pt x="128016" y="1554480"/>
                  </a:lnTo>
                  <a:cubicBezTo>
                    <a:pt x="57277" y="1554480"/>
                    <a:pt x="0" y="1497203"/>
                    <a:pt x="0" y="1426464"/>
                  </a:cubicBezTo>
                  <a:close/>
                </a:path>
              </a:pathLst>
            </a:custGeom>
            <a:solidFill>
              <a:srgbClr val="27306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65860" y="8229600"/>
            <a:ext cx="15910560" cy="1165860"/>
            <a:chOff x="0" y="0"/>
            <a:chExt cx="21214080" cy="1554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214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913" r="0" b="-21591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2121408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800" b="true">
                  <a:solidFill>
                    <a:srgbClr val="E8A3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pipeline itself is verified — </a:t>
              </a: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393/393 independent correctness checks pass; the ground-truth-leakage audit found a mixed result — open corrective actions on goal-position and vision/LiDAR ground-truth use, and no completed audit yet for the fusion-weighting/trust-update code path.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323308" y="9669780"/>
            <a:ext cx="548640" cy="411480"/>
            <a:chOff x="0" y="0"/>
            <a:chExt cx="73152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8A93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Radar-Fusion UAV Swarm Simulation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DAHQ2Eh8HKE</dc:identifier>
  <dcterms:modified xsi:type="dcterms:W3CDTF">2011-08-01T06:04:30Z</dcterms:modified>
  <cp:revision>1</cp:revision>
  <dc:title>Radar_Swarm_Simulation_Final_Presentation.pptx</dc:title>
</cp:coreProperties>
</file>